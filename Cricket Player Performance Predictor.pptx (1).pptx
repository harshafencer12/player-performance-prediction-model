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Arial" charset="1" panose="020B0604020202020204"/>
      <p:regular r:id="rId31"/>
    </p:embeddedFont>
    <p:embeddedFont>
      <p:font typeface="Georgia" charset="1" panose="02040502050405020303"/>
      <p:regular r:id="rId32"/>
    </p:embeddedFont>
    <p:embeddedFont>
      <p:font typeface="Arial Bold" charset="1" panose="020B07040202020202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notesMasters/notesMaster1.xml" Type="http://schemas.openxmlformats.org/officeDocument/2006/relationships/notesMaster"/><Relationship Id="rId29" Target="theme/theme2.xml" Type="http://schemas.openxmlformats.org/officeDocument/2006/relationships/theme"/><Relationship Id="rId3" Target="viewProps.xml" Type="http://schemas.openxmlformats.org/officeDocument/2006/relationships/viewProps"/><Relationship Id="rId30" Target="notesSlides/notesSlide1.xml" Type="http://schemas.openxmlformats.org/officeDocument/2006/relationships/notes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notesSlides/notesSlide2.xml" Type="http://schemas.openxmlformats.org/officeDocument/2006/relationships/notesSlide"/><Relationship Id="rId34" Target="fonts/font34.fntdata" Type="http://schemas.openxmlformats.org/officeDocument/2006/relationships/font"/><Relationship Id="rId35" Target="notesSlides/notesSlide3.xml" Type="http://schemas.openxmlformats.org/officeDocument/2006/relationships/notesSlide"/><Relationship Id="rId36" Target="notesSlides/notesSlide4.xml" Type="http://schemas.openxmlformats.org/officeDocument/2006/relationships/notesSlide"/><Relationship Id="rId37" Target="notesSlides/notesSlide5.xml" Type="http://schemas.openxmlformats.org/officeDocument/2006/relationships/notesSlide"/><Relationship Id="rId38" Target="notesSlides/notesSlide6.xml" Type="http://schemas.openxmlformats.org/officeDocument/2006/relationships/notesSlide"/><Relationship Id="rId39" Target="notesSlides/notesSlide7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8.xml" Type="http://schemas.openxmlformats.org/officeDocument/2006/relationships/notesSlide"/><Relationship Id="rId41" Target="notesSlides/notesSlide9.xml" Type="http://schemas.openxmlformats.org/officeDocument/2006/relationships/notesSlide"/><Relationship Id="rId42" Target="notesSlides/notesSlide10.xml" Type="http://schemas.openxmlformats.org/officeDocument/2006/relationships/notesSlide"/><Relationship Id="rId43" Target="notesSlides/notesSlide11.xml" Type="http://schemas.openxmlformats.org/officeDocument/2006/relationships/notesSlide"/><Relationship Id="rId44" Target="notesSlides/notesSlide12.xml" Type="http://schemas.openxmlformats.org/officeDocument/2006/relationships/notesSlide"/><Relationship Id="rId45" Target="notesSlides/notesSlide13.xml" Type="http://schemas.openxmlformats.org/officeDocument/2006/relationships/notesSlide"/><Relationship Id="rId46" Target="notesSlides/notesSlide14.xml" Type="http://schemas.openxmlformats.org/officeDocument/2006/relationships/notesSlide"/><Relationship Id="rId47" Target="notesSlides/notesSlide15.xml" Type="http://schemas.openxmlformats.org/officeDocument/2006/relationships/notesSlide"/><Relationship Id="rId48" Target="notesSlides/notesSlide16.xml" Type="http://schemas.openxmlformats.org/officeDocument/2006/relationships/notesSlide"/><Relationship Id="rId49" Target="notesSlides/notesSlide17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8.xml" Type="http://schemas.openxmlformats.org/officeDocument/2006/relationships/notesSlide"/><Relationship Id="rId51" Target="notesSlides/notesSlide19.xml" Type="http://schemas.openxmlformats.org/officeDocument/2006/relationships/notesSlide"/><Relationship Id="rId52" Target="notesSlides/notesSlide20.xml" Type="http://schemas.openxmlformats.org/officeDocument/2006/relationships/notesSlide"/><Relationship Id="rId53" Target="notesSlides/notesSlide21.xml" Type="http://schemas.openxmlformats.org/officeDocument/2006/relationships/notesSlide"/><Relationship Id="rId54" Target="notesSlides/notesSlide22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3023235"/>
            <a:ext cx="1632508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spc="299">
                <a:solidFill>
                  <a:srgbClr val="E8743B"/>
                </a:solidFill>
                <a:latin typeface="Arial"/>
                <a:ea typeface="Arial"/>
                <a:cs typeface="Arial"/>
                <a:sym typeface="Arial"/>
              </a:rPr>
              <a:t>PROJECT PRESENTATION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4032885"/>
            <a:ext cx="16325088" cy="90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7200">
                <a:solidFill>
                  <a:srgbClr val="F4EFE6"/>
                </a:solidFill>
                <a:latin typeface="Georgia"/>
                <a:ea typeface="Georgia"/>
                <a:cs typeface="Georgia"/>
                <a:sym typeface="Georgia"/>
              </a:rPr>
              <a:t>Cricket Player Performance Predictor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9200" y="5288280"/>
            <a:ext cx="16325088" cy="58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C9D3DA"/>
                </a:solidFill>
                <a:latin typeface="Arial"/>
                <a:ea typeface="Arial"/>
                <a:cs typeface="Arial"/>
                <a:sym typeface="Arial"/>
              </a:rPr>
              <a:t>Predicting a batter’s expected runs in the next IPL match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6187440"/>
            <a:ext cx="16325088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9D3DA"/>
                </a:solidFill>
                <a:latin typeface="Arial"/>
                <a:ea typeface="Arial"/>
                <a:cs typeface="Arial"/>
                <a:sym typeface="Arial"/>
              </a:rPr>
              <a:t>[Salman Ahmed-2520089070  P Venkata Harshvardhan-2520089071]   Guide: [Dr Mrs Lakshmi Haritha]</a:t>
            </a:r>
          </a:p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9D3DA"/>
                </a:solidFill>
                <a:latin typeface="Arial"/>
                <a:ea typeface="Arial"/>
                <a:cs typeface="Arial"/>
                <a:sym typeface="Arial"/>
              </a:rPr>
              <a:t>[Department-AIDS] · [KLH university] · [Academic year-2026-27]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257300"/>
            <a:ext cx="16325088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>
                <a:solidFill>
                  <a:srgbClr val="14202B"/>
                </a:solidFill>
                <a:latin typeface="Georgia"/>
                <a:ea typeface="Georgia"/>
                <a:cs typeface="Georgia"/>
                <a:sym typeface="Georgia"/>
              </a:rPr>
              <a:t>Introduction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2430780"/>
            <a:ext cx="5079921" cy="2536508"/>
            <a:chOff x="0" y="0"/>
            <a:chExt cx="6773228" cy="33820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73291" cy="3382010"/>
            </a:xfrm>
            <a:custGeom>
              <a:avLst/>
              <a:gdLst/>
              <a:ahLst/>
              <a:cxnLst/>
              <a:rect r="r" b="b" t="t" l="l"/>
              <a:pathLst>
                <a:path h="3382010" w="6773291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0891" y="0"/>
                  </a:lnTo>
                  <a:cubicBezTo>
                    <a:pt x="6705092" y="0"/>
                    <a:pt x="6773291" y="68199"/>
                    <a:pt x="6773291" y="152400"/>
                  </a:cubicBezTo>
                  <a:lnTo>
                    <a:pt x="6773291" y="3229610"/>
                  </a:lnTo>
                  <a:cubicBezTo>
                    <a:pt x="6773291" y="3313811"/>
                    <a:pt x="6705092" y="3382010"/>
                    <a:pt x="6620891" y="3382010"/>
                  </a:cubicBezTo>
                  <a:lnTo>
                    <a:pt x="152400" y="3382010"/>
                  </a:lnTo>
                  <a:cubicBezTo>
                    <a:pt x="68199" y="3382010"/>
                    <a:pt x="0" y="3313811"/>
                    <a:pt x="0" y="322961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19200" y="2430780"/>
            <a:ext cx="5079921" cy="2536508"/>
            <a:chOff x="0" y="0"/>
            <a:chExt cx="6773228" cy="33820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73291" cy="152400"/>
            </a:xfrm>
            <a:custGeom>
              <a:avLst/>
              <a:gdLst/>
              <a:ahLst/>
              <a:cxnLst/>
              <a:rect r="r" b="b" t="t" l="l"/>
              <a:pathLst>
                <a:path h="152400" w="6773291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0891" y="0"/>
                  </a:lnTo>
                  <a:cubicBezTo>
                    <a:pt x="6705092" y="0"/>
                    <a:pt x="6773291" y="68199"/>
                    <a:pt x="6773291" y="152400"/>
                  </a:cubicBezTo>
                  <a:cubicBezTo>
                    <a:pt x="6773291" y="110363"/>
                    <a:pt x="6739128" y="76200"/>
                    <a:pt x="6697091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E8743B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00200" y="2846070"/>
            <a:ext cx="4447461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4202B"/>
                </a:solidFill>
                <a:latin typeface="Arial Bold"/>
                <a:ea typeface="Arial Bold"/>
                <a:cs typeface="Arial Bold"/>
                <a:sym typeface="Arial Bold"/>
              </a:rPr>
              <a:t>Background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0200" y="3381375"/>
            <a:ext cx="4447461" cy="1243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Cricket generates rich ball-by-ball data; IPL matches from 2008 to 2023 are publicly available.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603921" y="2430780"/>
            <a:ext cx="5080035" cy="2536508"/>
            <a:chOff x="0" y="0"/>
            <a:chExt cx="6773380" cy="33820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73418" cy="3382010"/>
            </a:xfrm>
            <a:custGeom>
              <a:avLst/>
              <a:gdLst/>
              <a:ahLst/>
              <a:cxnLst/>
              <a:rect r="r" b="b" t="t" l="l"/>
              <a:pathLst>
                <a:path h="338201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lnTo>
                    <a:pt x="6773418" y="3229610"/>
                  </a:lnTo>
                  <a:cubicBezTo>
                    <a:pt x="6773418" y="3313811"/>
                    <a:pt x="6705219" y="3382010"/>
                    <a:pt x="6621018" y="3382010"/>
                  </a:cubicBezTo>
                  <a:lnTo>
                    <a:pt x="152400" y="3382010"/>
                  </a:lnTo>
                  <a:cubicBezTo>
                    <a:pt x="68199" y="3382010"/>
                    <a:pt x="0" y="3313811"/>
                    <a:pt x="0" y="322961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603921" y="2430780"/>
            <a:ext cx="5080035" cy="2536508"/>
            <a:chOff x="0" y="0"/>
            <a:chExt cx="6773380" cy="33820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73418" cy="152400"/>
            </a:xfrm>
            <a:custGeom>
              <a:avLst/>
              <a:gdLst/>
              <a:ahLst/>
              <a:cxnLst/>
              <a:rect r="r" b="b" t="t" l="l"/>
              <a:pathLst>
                <a:path h="15240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cubicBezTo>
                    <a:pt x="6773418" y="110363"/>
                    <a:pt x="6739255" y="76200"/>
                    <a:pt x="6697218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2F7F96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984921" y="2846070"/>
            <a:ext cx="4447584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4202B"/>
                </a:solidFill>
                <a:latin typeface="Arial Bold"/>
                <a:ea typeface="Arial Bold"/>
                <a:cs typeface="Arial Bold"/>
                <a:sym typeface="Arial Bold"/>
              </a:rPr>
              <a:t>Domain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84921" y="3381375"/>
            <a:ext cx="4447584" cy="1243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Sports analytics and machine learning: turning raw deliveries into player-level insight.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988765" y="2430780"/>
            <a:ext cx="5080035" cy="2536508"/>
            <a:chOff x="0" y="0"/>
            <a:chExt cx="6773380" cy="33820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73418" cy="3382010"/>
            </a:xfrm>
            <a:custGeom>
              <a:avLst/>
              <a:gdLst/>
              <a:ahLst/>
              <a:cxnLst/>
              <a:rect r="r" b="b" t="t" l="l"/>
              <a:pathLst>
                <a:path h="338201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lnTo>
                    <a:pt x="6773418" y="3229610"/>
                  </a:lnTo>
                  <a:cubicBezTo>
                    <a:pt x="6773418" y="3313811"/>
                    <a:pt x="6705219" y="3382010"/>
                    <a:pt x="6621018" y="3382010"/>
                  </a:cubicBezTo>
                  <a:lnTo>
                    <a:pt x="152400" y="3382010"/>
                  </a:lnTo>
                  <a:cubicBezTo>
                    <a:pt x="68199" y="3382010"/>
                    <a:pt x="0" y="3313811"/>
                    <a:pt x="0" y="322961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988765" y="2430780"/>
            <a:ext cx="5080035" cy="2536508"/>
            <a:chOff x="0" y="0"/>
            <a:chExt cx="6773380" cy="33820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73418" cy="152400"/>
            </a:xfrm>
            <a:custGeom>
              <a:avLst/>
              <a:gdLst/>
              <a:ahLst/>
              <a:cxnLst/>
              <a:rect r="r" b="b" t="t" l="l"/>
              <a:pathLst>
                <a:path h="15240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cubicBezTo>
                    <a:pt x="6773418" y="110363"/>
                    <a:pt x="6739255" y="76200"/>
                    <a:pt x="6697218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E8743B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369765" y="2846070"/>
            <a:ext cx="4447584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4202B"/>
                </a:solidFill>
                <a:latin typeface="Arial Bold"/>
                <a:ea typeface="Arial Bold"/>
                <a:cs typeface="Arial Bold"/>
                <a:sym typeface="Arial Bold"/>
              </a:rPr>
              <a:t>Why it is needed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69765" y="3381375"/>
            <a:ext cx="4447584" cy="1243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Analysts and fans need data-backed expectations of how a batter will perform next.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257300"/>
            <a:ext cx="16325088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>
                <a:solidFill>
                  <a:srgbClr val="14202B"/>
                </a:solidFill>
                <a:latin typeface="Georgia"/>
                <a:ea typeface="Georgia"/>
                <a:cs typeface="Georgia"/>
                <a:sym typeface="Georgia"/>
              </a:rPr>
              <a:t>Problem Statement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2430780"/>
            <a:ext cx="5079921" cy="2536508"/>
            <a:chOff x="0" y="0"/>
            <a:chExt cx="6773228" cy="33820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73291" cy="3382010"/>
            </a:xfrm>
            <a:custGeom>
              <a:avLst/>
              <a:gdLst/>
              <a:ahLst/>
              <a:cxnLst/>
              <a:rect r="r" b="b" t="t" l="l"/>
              <a:pathLst>
                <a:path h="3382010" w="6773291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0891" y="0"/>
                  </a:lnTo>
                  <a:cubicBezTo>
                    <a:pt x="6705092" y="0"/>
                    <a:pt x="6773291" y="68199"/>
                    <a:pt x="6773291" y="152400"/>
                  </a:cubicBezTo>
                  <a:lnTo>
                    <a:pt x="6773291" y="3229610"/>
                  </a:lnTo>
                  <a:cubicBezTo>
                    <a:pt x="6773291" y="3313811"/>
                    <a:pt x="6705092" y="3382010"/>
                    <a:pt x="6620891" y="3382010"/>
                  </a:cubicBezTo>
                  <a:lnTo>
                    <a:pt x="152400" y="3382010"/>
                  </a:lnTo>
                  <a:cubicBezTo>
                    <a:pt x="68199" y="3382010"/>
                    <a:pt x="0" y="3313811"/>
                    <a:pt x="0" y="322961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19200" y="2430780"/>
            <a:ext cx="5079921" cy="2536508"/>
            <a:chOff x="0" y="0"/>
            <a:chExt cx="6773228" cy="33820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73291" cy="152400"/>
            </a:xfrm>
            <a:custGeom>
              <a:avLst/>
              <a:gdLst/>
              <a:ahLst/>
              <a:cxnLst/>
              <a:rect r="r" b="b" t="t" l="l"/>
              <a:pathLst>
                <a:path h="152400" w="6773291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0891" y="0"/>
                  </a:lnTo>
                  <a:cubicBezTo>
                    <a:pt x="6705092" y="0"/>
                    <a:pt x="6773291" y="68199"/>
                    <a:pt x="6773291" y="152400"/>
                  </a:cubicBezTo>
                  <a:cubicBezTo>
                    <a:pt x="6773291" y="110363"/>
                    <a:pt x="6739128" y="76200"/>
                    <a:pt x="6697091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E8743B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00200" y="2846070"/>
            <a:ext cx="4447461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4202B"/>
                </a:solidFill>
                <a:latin typeface="Arial Bold"/>
                <a:ea typeface="Arial Bold"/>
                <a:cs typeface="Arial Bold"/>
                <a:sym typeface="Arial Bold"/>
              </a:rPr>
              <a:t>Existing problem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0200" y="3381375"/>
            <a:ext cx="4447461" cy="1243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Expected runs for a batter in the next match are judged by intuition or headline averages.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603921" y="2430780"/>
            <a:ext cx="5080035" cy="2536508"/>
            <a:chOff x="0" y="0"/>
            <a:chExt cx="6773380" cy="33820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73418" cy="3382010"/>
            </a:xfrm>
            <a:custGeom>
              <a:avLst/>
              <a:gdLst/>
              <a:ahLst/>
              <a:cxnLst/>
              <a:rect r="r" b="b" t="t" l="l"/>
              <a:pathLst>
                <a:path h="338201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lnTo>
                    <a:pt x="6773418" y="3229610"/>
                  </a:lnTo>
                  <a:cubicBezTo>
                    <a:pt x="6773418" y="3313811"/>
                    <a:pt x="6705219" y="3382010"/>
                    <a:pt x="6621018" y="3382010"/>
                  </a:cubicBezTo>
                  <a:lnTo>
                    <a:pt x="152400" y="3382010"/>
                  </a:lnTo>
                  <a:cubicBezTo>
                    <a:pt x="68199" y="3382010"/>
                    <a:pt x="0" y="3313811"/>
                    <a:pt x="0" y="322961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603921" y="2430780"/>
            <a:ext cx="5080035" cy="2536508"/>
            <a:chOff x="0" y="0"/>
            <a:chExt cx="6773380" cy="33820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73418" cy="152400"/>
            </a:xfrm>
            <a:custGeom>
              <a:avLst/>
              <a:gdLst/>
              <a:ahLst/>
              <a:cxnLst/>
              <a:rect r="r" b="b" t="t" l="l"/>
              <a:pathLst>
                <a:path h="15240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cubicBezTo>
                    <a:pt x="6773418" y="110363"/>
                    <a:pt x="6739255" y="76200"/>
                    <a:pt x="6697218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2F7F96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984921" y="2846070"/>
            <a:ext cx="4447584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4202B"/>
                </a:solidFill>
                <a:latin typeface="Arial Bold"/>
                <a:ea typeface="Arial Bold"/>
                <a:cs typeface="Arial Bold"/>
                <a:sym typeface="Arial Bold"/>
              </a:rPr>
              <a:t>Limitations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84921" y="3381375"/>
            <a:ext cx="4447584" cy="1243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T20 single-innings scores are highly variable, and raw ball-by-ball data is not player-level.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988765" y="2430780"/>
            <a:ext cx="5080035" cy="2536508"/>
            <a:chOff x="0" y="0"/>
            <a:chExt cx="6773380" cy="33820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73418" cy="3382010"/>
            </a:xfrm>
            <a:custGeom>
              <a:avLst/>
              <a:gdLst/>
              <a:ahLst/>
              <a:cxnLst/>
              <a:rect r="r" b="b" t="t" l="l"/>
              <a:pathLst>
                <a:path h="338201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lnTo>
                    <a:pt x="6773418" y="3229610"/>
                  </a:lnTo>
                  <a:cubicBezTo>
                    <a:pt x="6773418" y="3313811"/>
                    <a:pt x="6705219" y="3382010"/>
                    <a:pt x="6621018" y="3382010"/>
                  </a:cubicBezTo>
                  <a:lnTo>
                    <a:pt x="152400" y="3382010"/>
                  </a:lnTo>
                  <a:cubicBezTo>
                    <a:pt x="68199" y="3382010"/>
                    <a:pt x="0" y="3313811"/>
                    <a:pt x="0" y="322961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988765" y="2430780"/>
            <a:ext cx="5080035" cy="2536508"/>
            <a:chOff x="0" y="0"/>
            <a:chExt cx="6773380" cy="33820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73418" cy="152400"/>
            </a:xfrm>
            <a:custGeom>
              <a:avLst/>
              <a:gdLst/>
              <a:ahLst/>
              <a:cxnLst/>
              <a:rect r="r" b="b" t="t" l="l"/>
              <a:pathLst>
                <a:path h="15240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cubicBezTo>
                    <a:pt x="6773418" y="110363"/>
                    <a:pt x="6739255" y="76200"/>
                    <a:pt x="6697218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E8743B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369765" y="2846070"/>
            <a:ext cx="4447584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4202B"/>
                </a:solidFill>
                <a:latin typeface="Arial Bold"/>
                <a:ea typeface="Arial Bold"/>
                <a:cs typeface="Arial Bold"/>
                <a:sym typeface="Arial Bold"/>
              </a:rPr>
              <a:t>Who is affected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69765" y="3381375"/>
            <a:ext cx="444758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Analysts, team management, fantasy-league players and fans.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257300"/>
            <a:ext cx="16325088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>
                <a:solidFill>
                  <a:srgbClr val="F4EFE6"/>
                </a:solidFill>
                <a:latin typeface="Georgia"/>
                <a:ea typeface="Georgia"/>
                <a:cs typeface="Georgia"/>
                <a:sym typeface="Georgia"/>
              </a:rPr>
              <a:t>Motivation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2430780"/>
            <a:ext cx="5079921" cy="2922270"/>
            <a:chOff x="0" y="0"/>
            <a:chExt cx="6773228" cy="3896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73291" cy="3896360"/>
            </a:xfrm>
            <a:custGeom>
              <a:avLst/>
              <a:gdLst/>
              <a:ahLst/>
              <a:cxnLst/>
              <a:rect r="r" b="b" t="t" l="l"/>
              <a:pathLst>
                <a:path h="3896360" w="6773291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0891" y="0"/>
                  </a:lnTo>
                  <a:cubicBezTo>
                    <a:pt x="6705092" y="0"/>
                    <a:pt x="6773291" y="68199"/>
                    <a:pt x="6773291" y="152400"/>
                  </a:cubicBezTo>
                  <a:lnTo>
                    <a:pt x="6773291" y="3743960"/>
                  </a:lnTo>
                  <a:cubicBezTo>
                    <a:pt x="6773291" y="3828161"/>
                    <a:pt x="6705092" y="3896360"/>
                    <a:pt x="6620891" y="3896360"/>
                  </a:cubicBezTo>
                  <a:lnTo>
                    <a:pt x="152400" y="3896360"/>
                  </a:lnTo>
                  <a:cubicBezTo>
                    <a:pt x="68199" y="3896360"/>
                    <a:pt x="0" y="3828161"/>
                    <a:pt x="0" y="374396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19200" y="2430780"/>
            <a:ext cx="5079921" cy="2922270"/>
            <a:chOff x="0" y="0"/>
            <a:chExt cx="6773228" cy="3896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73291" cy="152400"/>
            </a:xfrm>
            <a:custGeom>
              <a:avLst/>
              <a:gdLst/>
              <a:ahLst/>
              <a:cxnLst/>
              <a:rect r="r" b="b" t="t" l="l"/>
              <a:pathLst>
                <a:path h="152400" w="6773291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0891" y="0"/>
                  </a:lnTo>
                  <a:cubicBezTo>
                    <a:pt x="6705092" y="0"/>
                    <a:pt x="6773291" y="68199"/>
                    <a:pt x="6773291" y="152400"/>
                  </a:cubicBezTo>
                  <a:cubicBezTo>
                    <a:pt x="6773291" y="110363"/>
                    <a:pt x="6739128" y="76200"/>
                    <a:pt x="6697091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E8743B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00200" y="2846070"/>
            <a:ext cx="4447461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E8743B"/>
                </a:solidFill>
                <a:latin typeface="Arial Bold"/>
                <a:ea typeface="Arial Bold"/>
                <a:cs typeface="Arial Bold"/>
                <a:sym typeface="Arial Bold"/>
              </a:rPr>
              <a:t>Why this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0200" y="3381375"/>
            <a:ext cx="4447461" cy="1243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Combines interest in cricket with an end-to-end machine learning workflow.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603921" y="2430780"/>
            <a:ext cx="5080035" cy="2922270"/>
            <a:chOff x="0" y="0"/>
            <a:chExt cx="6773380" cy="3896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73418" cy="3896360"/>
            </a:xfrm>
            <a:custGeom>
              <a:avLst/>
              <a:gdLst/>
              <a:ahLst/>
              <a:cxnLst/>
              <a:rect r="r" b="b" t="t" l="l"/>
              <a:pathLst>
                <a:path h="389636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lnTo>
                    <a:pt x="6773418" y="3743960"/>
                  </a:lnTo>
                  <a:cubicBezTo>
                    <a:pt x="6773418" y="3828161"/>
                    <a:pt x="6705219" y="3896360"/>
                    <a:pt x="6621018" y="3896360"/>
                  </a:cubicBezTo>
                  <a:lnTo>
                    <a:pt x="152400" y="3896360"/>
                  </a:lnTo>
                  <a:cubicBezTo>
                    <a:pt x="68199" y="3896360"/>
                    <a:pt x="0" y="3828161"/>
                    <a:pt x="0" y="374396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603921" y="2430780"/>
            <a:ext cx="5080035" cy="2922270"/>
            <a:chOff x="0" y="0"/>
            <a:chExt cx="6773380" cy="38963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73418" cy="152400"/>
            </a:xfrm>
            <a:custGeom>
              <a:avLst/>
              <a:gdLst/>
              <a:ahLst/>
              <a:cxnLst/>
              <a:rect r="r" b="b" t="t" l="l"/>
              <a:pathLst>
                <a:path h="15240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cubicBezTo>
                    <a:pt x="6773418" y="110363"/>
                    <a:pt x="6739255" y="76200"/>
                    <a:pt x="6697218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2F7F96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984921" y="2846070"/>
            <a:ext cx="4447584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E8743B"/>
                </a:solidFill>
                <a:latin typeface="Arial Bold"/>
                <a:ea typeface="Arial Bold"/>
                <a:cs typeface="Arial Bold"/>
                <a:sym typeface="Arial Bold"/>
              </a:rPr>
              <a:t>Real-world need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84921" y="3381375"/>
            <a:ext cx="4447584" cy="1243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Fantasy leagues, player scouting and match previews all rely on performance expectations.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988765" y="2430780"/>
            <a:ext cx="5080035" cy="2922270"/>
            <a:chOff x="0" y="0"/>
            <a:chExt cx="6773380" cy="3896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73418" cy="3896360"/>
            </a:xfrm>
            <a:custGeom>
              <a:avLst/>
              <a:gdLst/>
              <a:ahLst/>
              <a:cxnLst/>
              <a:rect r="r" b="b" t="t" l="l"/>
              <a:pathLst>
                <a:path h="389636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lnTo>
                    <a:pt x="6773418" y="3743960"/>
                  </a:lnTo>
                  <a:cubicBezTo>
                    <a:pt x="6773418" y="3828161"/>
                    <a:pt x="6705219" y="3896360"/>
                    <a:pt x="6621018" y="3896360"/>
                  </a:cubicBezTo>
                  <a:lnTo>
                    <a:pt x="152400" y="3896360"/>
                  </a:lnTo>
                  <a:cubicBezTo>
                    <a:pt x="68199" y="3896360"/>
                    <a:pt x="0" y="3828161"/>
                    <a:pt x="0" y="374396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988765" y="2430780"/>
            <a:ext cx="5080035" cy="2922270"/>
            <a:chOff x="0" y="0"/>
            <a:chExt cx="6773380" cy="3896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73418" cy="152400"/>
            </a:xfrm>
            <a:custGeom>
              <a:avLst/>
              <a:gdLst/>
              <a:ahLst/>
              <a:cxnLst/>
              <a:rect r="r" b="b" t="t" l="l"/>
              <a:pathLst>
                <a:path h="15240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cubicBezTo>
                    <a:pt x="6773418" y="110363"/>
                    <a:pt x="6739255" y="76200"/>
                    <a:pt x="6697218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E8743B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369765" y="2846070"/>
            <a:ext cx="4447584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E8743B"/>
                </a:solidFill>
                <a:latin typeface="Arial Bold"/>
                <a:ea typeface="Arial Bold"/>
                <a:cs typeface="Arial Bold"/>
                <a:sym typeface="Arial Bold"/>
              </a:rPr>
              <a:t>Research motivation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69765" y="3381375"/>
            <a:ext cx="4447584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Single-match sports prediction is a known hard problem, which makes honest evaluation valuable.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257300"/>
            <a:ext cx="16325088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>
                <a:solidFill>
                  <a:srgbClr val="14202B"/>
                </a:solidFill>
                <a:latin typeface="Georgia"/>
                <a:ea typeface="Georgia"/>
                <a:cs typeface="Georgia"/>
                <a:sym typeface="Georgia"/>
              </a:rPr>
              <a:t>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2373630"/>
            <a:ext cx="1706880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000" b="true">
                <a:solidFill>
                  <a:srgbClr val="E8743B"/>
                </a:solidFill>
                <a:latin typeface="Arial Bold"/>
                <a:ea typeface="Arial Bold"/>
                <a:cs typeface="Arial Bold"/>
                <a:sym typeface="Arial Bold"/>
              </a:rPr>
              <a:t>Main objective:</a:t>
            </a:r>
            <a:r>
              <a:rPr lang="en-US" sz="3000">
                <a:solidFill>
                  <a:srgbClr val="E8743B"/>
                </a:solidFill>
                <a:latin typeface="Arial"/>
                <a:ea typeface="Arial"/>
                <a:cs typeface="Arial"/>
                <a:sym typeface="Arial"/>
              </a:rPr>
              <a:t> predict a batter’s expected runs in their next IPL match from historical data.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03401" y="3307080"/>
            <a:ext cx="16229457" cy="219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14202B"/>
                </a:solidFill>
                <a:latin typeface="Arial"/>
                <a:ea typeface="Arial"/>
                <a:cs typeface="Arial"/>
                <a:sym typeface="Arial"/>
              </a:rPr>
              <a:t>Aggregate ball-by-ball deliveries into per-match batting and bowling statistics</a:t>
            </a:r>
          </a:p>
          <a:p>
            <a:pPr algn="l" marL="488632" indent="-244316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14202B"/>
                </a:solidFill>
                <a:latin typeface="Arial"/>
                <a:ea typeface="Arial"/>
                <a:cs typeface="Arial"/>
                <a:sym typeface="Arial"/>
              </a:rPr>
              <a:t>Engineer leakage-safe features from prior matches only</a:t>
            </a:r>
          </a:p>
          <a:p>
            <a:pPr algn="l" marL="488632" indent="-244316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14202B"/>
                </a:solidFill>
                <a:latin typeface="Arial"/>
                <a:ea typeface="Arial"/>
                <a:cs typeface="Arial"/>
                <a:sym typeface="Arial"/>
              </a:rPr>
              <a:t>Train and evaluate a Gradient Boosting Regressor</a:t>
            </a:r>
          </a:p>
          <a:p>
            <a:pPr algn="l" marL="488632" indent="-244316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14202B"/>
                </a:solidFill>
                <a:latin typeface="Arial"/>
                <a:ea typeface="Arial"/>
                <a:cs typeface="Arial"/>
                <a:sym typeface="Arial"/>
              </a:rPr>
              <a:t>Serve predictions through a Flask web interface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257300"/>
            <a:ext cx="16325088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>
                <a:solidFill>
                  <a:srgbClr val="14202B"/>
                </a:solidFill>
                <a:latin typeface="Georgia"/>
                <a:ea typeface="Georgia"/>
                <a:cs typeface="Georgia"/>
                <a:sym typeface="Georgia"/>
              </a:rPr>
              <a:t>Existing System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2430780"/>
            <a:ext cx="5079921" cy="2536508"/>
            <a:chOff x="0" y="0"/>
            <a:chExt cx="6773228" cy="33820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73291" cy="3382010"/>
            </a:xfrm>
            <a:custGeom>
              <a:avLst/>
              <a:gdLst/>
              <a:ahLst/>
              <a:cxnLst/>
              <a:rect r="r" b="b" t="t" l="l"/>
              <a:pathLst>
                <a:path h="3382010" w="6773291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0891" y="0"/>
                  </a:lnTo>
                  <a:cubicBezTo>
                    <a:pt x="6705092" y="0"/>
                    <a:pt x="6773291" y="68199"/>
                    <a:pt x="6773291" y="152400"/>
                  </a:cubicBezTo>
                  <a:lnTo>
                    <a:pt x="6773291" y="3229610"/>
                  </a:lnTo>
                  <a:cubicBezTo>
                    <a:pt x="6773291" y="3313811"/>
                    <a:pt x="6705092" y="3382010"/>
                    <a:pt x="6620891" y="3382010"/>
                  </a:cubicBezTo>
                  <a:lnTo>
                    <a:pt x="152400" y="3382010"/>
                  </a:lnTo>
                  <a:cubicBezTo>
                    <a:pt x="68199" y="3382010"/>
                    <a:pt x="0" y="3313811"/>
                    <a:pt x="0" y="322961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19200" y="2430780"/>
            <a:ext cx="5079921" cy="2536508"/>
            <a:chOff x="0" y="0"/>
            <a:chExt cx="6773228" cy="33820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73291" cy="152400"/>
            </a:xfrm>
            <a:custGeom>
              <a:avLst/>
              <a:gdLst/>
              <a:ahLst/>
              <a:cxnLst/>
              <a:rect r="r" b="b" t="t" l="l"/>
              <a:pathLst>
                <a:path h="152400" w="6773291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0891" y="0"/>
                  </a:lnTo>
                  <a:cubicBezTo>
                    <a:pt x="6705092" y="0"/>
                    <a:pt x="6773291" y="68199"/>
                    <a:pt x="6773291" y="152400"/>
                  </a:cubicBezTo>
                  <a:cubicBezTo>
                    <a:pt x="6773291" y="110363"/>
                    <a:pt x="6739128" y="76200"/>
                    <a:pt x="6697091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E8743B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00200" y="2846070"/>
            <a:ext cx="4447461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4202B"/>
                </a:solidFill>
                <a:latin typeface="Arial Bold"/>
                <a:ea typeface="Arial Bold"/>
                <a:cs typeface="Arial Bold"/>
                <a:sym typeface="Arial Bold"/>
              </a:rPr>
              <a:t>Current approach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0200" y="3381375"/>
            <a:ext cx="4447461" cy="1243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Career averages and strike rates read from scorecards, plus manual judgement.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603921" y="2430780"/>
            <a:ext cx="5080035" cy="2536508"/>
            <a:chOff x="0" y="0"/>
            <a:chExt cx="6773380" cy="33820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73418" cy="3382010"/>
            </a:xfrm>
            <a:custGeom>
              <a:avLst/>
              <a:gdLst/>
              <a:ahLst/>
              <a:cxnLst/>
              <a:rect r="r" b="b" t="t" l="l"/>
              <a:pathLst>
                <a:path h="338201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lnTo>
                    <a:pt x="6773418" y="3229610"/>
                  </a:lnTo>
                  <a:cubicBezTo>
                    <a:pt x="6773418" y="3313811"/>
                    <a:pt x="6705219" y="3382010"/>
                    <a:pt x="6621018" y="3382010"/>
                  </a:cubicBezTo>
                  <a:lnTo>
                    <a:pt x="152400" y="3382010"/>
                  </a:lnTo>
                  <a:cubicBezTo>
                    <a:pt x="68199" y="3382010"/>
                    <a:pt x="0" y="3313811"/>
                    <a:pt x="0" y="322961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603921" y="2430780"/>
            <a:ext cx="5080035" cy="2536508"/>
            <a:chOff x="0" y="0"/>
            <a:chExt cx="6773380" cy="33820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73418" cy="152400"/>
            </a:xfrm>
            <a:custGeom>
              <a:avLst/>
              <a:gdLst/>
              <a:ahLst/>
              <a:cxnLst/>
              <a:rect r="r" b="b" t="t" l="l"/>
              <a:pathLst>
                <a:path h="15240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cubicBezTo>
                    <a:pt x="6773418" y="110363"/>
                    <a:pt x="6739255" y="76200"/>
                    <a:pt x="6697218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2F7F96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984921" y="2846070"/>
            <a:ext cx="4447584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4202B"/>
                </a:solidFill>
                <a:latin typeface="Arial Bold"/>
                <a:ea typeface="Arial Bold"/>
                <a:cs typeface="Arial Bold"/>
                <a:sym typeface="Arial Bold"/>
              </a:rPr>
              <a:t>Technologies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84921" y="3381375"/>
            <a:ext cx="4447584" cy="1243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Statistics websites and spreadsheets; no personalised prediction per upcoming match.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988765" y="2430780"/>
            <a:ext cx="5080035" cy="2536508"/>
            <a:chOff x="0" y="0"/>
            <a:chExt cx="6773380" cy="33820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73418" cy="3382010"/>
            </a:xfrm>
            <a:custGeom>
              <a:avLst/>
              <a:gdLst/>
              <a:ahLst/>
              <a:cxnLst/>
              <a:rect r="r" b="b" t="t" l="l"/>
              <a:pathLst>
                <a:path h="338201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lnTo>
                    <a:pt x="6773418" y="3229610"/>
                  </a:lnTo>
                  <a:cubicBezTo>
                    <a:pt x="6773418" y="3313811"/>
                    <a:pt x="6705219" y="3382010"/>
                    <a:pt x="6621018" y="3382010"/>
                  </a:cubicBezTo>
                  <a:lnTo>
                    <a:pt x="152400" y="3382010"/>
                  </a:lnTo>
                  <a:cubicBezTo>
                    <a:pt x="68199" y="3382010"/>
                    <a:pt x="0" y="3313811"/>
                    <a:pt x="0" y="322961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988765" y="2430780"/>
            <a:ext cx="5080035" cy="2536508"/>
            <a:chOff x="0" y="0"/>
            <a:chExt cx="6773380" cy="33820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73418" cy="152400"/>
            </a:xfrm>
            <a:custGeom>
              <a:avLst/>
              <a:gdLst/>
              <a:ahLst/>
              <a:cxnLst/>
              <a:rect r="r" b="b" t="t" l="l"/>
              <a:pathLst>
                <a:path h="15240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cubicBezTo>
                    <a:pt x="6773418" y="110363"/>
                    <a:pt x="6739255" y="76200"/>
                    <a:pt x="6697218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E8743B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369765" y="2846070"/>
            <a:ext cx="4447584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4202B"/>
                </a:solidFill>
                <a:latin typeface="Arial Bold"/>
                <a:ea typeface="Arial Bold"/>
                <a:cs typeface="Arial Bold"/>
                <a:sym typeface="Arial Bold"/>
              </a:rPr>
              <a:t>Limitations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69765" y="3381375"/>
            <a:ext cx="444758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Ignores recent form, opponent and venue; not interactive.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257300"/>
            <a:ext cx="16325088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>
                <a:solidFill>
                  <a:srgbClr val="F4EFE6"/>
                </a:solidFill>
                <a:latin typeface="Georgia"/>
                <a:ea typeface="Georgia"/>
                <a:cs typeface="Georgia"/>
                <a:sym typeface="Georgia"/>
              </a:rPr>
              <a:t>Proposed System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2354580"/>
            <a:ext cx="16325088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5"/>
              </a:lnSpc>
            </a:pPr>
            <a:r>
              <a:rPr lang="en-US" sz="3300">
                <a:solidFill>
                  <a:srgbClr val="F4EFE6"/>
                </a:solidFill>
                <a:latin typeface="Arial"/>
                <a:ea typeface="Arial"/>
                <a:cs typeface="Arial"/>
                <a:sym typeface="Arial"/>
              </a:rPr>
              <a:t>A machine learning model plus a web app that predicts expected runs for a selected batter.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4019550"/>
            <a:ext cx="5079921" cy="2150745"/>
            <a:chOff x="0" y="0"/>
            <a:chExt cx="6773228" cy="2867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2867660"/>
            </a:xfrm>
            <a:custGeom>
              <a:avLst/>
              <a:gdLst/>
              <a:ahLst/>
              <a:cxnLst/>
              <a:rect r="r" b="b" t="t" l="l"/>
              <a:pathLst>
                <a:path h="2867660" w="6773291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0891" y="0"/>
                  </a:lnTo>
                  <a:cubicBezTo>
                    <a:pt x="6705092" y="0"/>
                    <a:pt x="6773291" y="68199"/>
                    <a:pt x="6773291" y="152400"/>
                  </a:cubicBezTo>
                  <a:lnTo>
                    <a:pt x="6773291" y="2715260"/>
                  </a:lnTo>
                  <a:cubicBezTo>
                    <a:pt x="6773291" y="2799461"/>
                    <a:pt x="6705092" y="2867660"/>
                    <a:pt x="6620891" y="2867660"/>
                  </a:cubicBezTo>
                  <a:lnTo>
                    <a:pt x="152400" y="2867660"/>
                  </a:lnTo>
                  <a:cubicBezTo>
                    <a:pt x="68199" y="2867660"/>
                    <a:pt x="0" y="2799461"/>
                    <a:pt x="0" y="271526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9200" y="4019550"/>
            <a:ext cx="5079921" cy="2150745"/>
            <a:chOff x="0" y="0"/>
            <a:chExt cx="6773228" cy="28676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773291" cy="152400"/>
            </a:xfrm>
            <a:custGeom>
              <a:avLst/>
              <a:gdLst/>
              <a:ahLst/>
              <a:cxnLst/>
              <a:rect r="r" b="b" t="t" l="l"/>
              <a:pathLst>
                <a:path h="152400" w="6773291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0891" y="0"/>
                  </a:lnTo>
                  <a:cubicBezTo>
                    <a:pt x="6705092" y="0"/>
                    <a:pt x="6773291" y="68199"/>
                    <a:pt x="6773291" y="152400"/>
                  </a:cubicBezTo>
                  <a:cubicBezTo>
                    <a:pt x="6773291" y="110363"/>
                    <a:pt x="6739128" y="76200"/>
                    <a:pt x="6697091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2B364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00200" y="4434840"/>
            <a:ext cx="4447461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E8743B"/>
                </a:solidFill>
                <a:latin typeface="Arial Bold"/>
                <a:ea typeface="Arial Bold"/>
                <a:cs typeface="Arial Bold"/>
                <a:sym typeface="Arial Bold"/>
              </a:rPr>
              <a:t>Recent form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00200" y="4970145"/>
            <a:ext cx="4447461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Last-5-innings features capture current form.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603921" y="4019550"/>
            <a:ext cx="5080035" cy="2150745"/>
            <a:chOff x="0" y="0"/>
            <a:chExt cx="6773380" cy="28676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73418" cy="2867660"/>
            </a:xfrm>
            <a:custGeom>
              <a:avLst/>
              <a:gdLst/>
              <a:ahLst/>
              <a:cxnLst/>
              <a:rect r="r" b="b" t="t" l="l"/>
              <a:pathLst>
                <a:path h="286766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lnTo>
                    <a:pt x="6773418" y="2715260"/>
                  </a:lnTo>
                  <a:cubicBezTo>
                    <a:pt x="6773418" y="2799461"/>
                    <a:pt x="6705219" y="2867660"/>
                    <a:pt x="6621018" y="2867660"/>
                  </a:cubicBezTo>
                  <a:lnTo>
                    <a:pt x="152400" y="2867660"/>
                  </a:lnTo>
                  <a:cubicBezTo>
                    <a:pt x="68199" y="2867660"/>
                    <a:pt x="0" y="2799461"/>
                    <a:pt x="0" y="271526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603921" y="4019550"/>
            <a:ext cx="5080035" cy="2150745"/>
            <a:chOff x="0" y="0"/>
            <a:chExt cx="6773380" cy="28676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73418" cy="152400"/>
            </a:xfrm>
            <a:custGeom>
              <a:avLst/>
              <a:gdLst/>
              <a:ahLst/>
              <a:cxnLst/>
              <a:rect r="r" b="b" t="t" l="l"/>
              <a:pathLst>
                <a:path h="15240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cubicBezTo>
                    <a:pt x="6773418" y="110363"/>
                    <a:pt x="6739255" y="76200"/>
                    <a:pt x="6697218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2F7F96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984921" y="4434840"/>
            <a:ext cx="4447584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E8743B"/>
                </a:solidFill>
                <a:latin typeface="Arial Bold"/>
                <a:ea typeface="Arial Bold"/>
                <a:cs typeface="Arial Bold"/>
                <a:sym typeface="Arial Bold"/>
              </a:rPr>
              <a:t>Context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84921" y="4970145"/>
            <a:ext cx="444758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Opponent and venue averages add match context.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988765" y="4019550"/>
            <a:ext cx="5080035" cy="2150745"/>
            <a:chOff x="0" y="0"/>
            <a:chExt cx="6773380" cy="28676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773418" cy="2867660"/>
            </a:xfrm>
            <a:custGeom>
              <a:avLst/>
              <a:gdLst/>
              <a:ahLst/>
              <a:cxnLst/>
              <a:rect r="r" b="b" t="t" l="l"/>
              <a:pathLst>
                <a:path h="286766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lnTo>
                    <a:pt x="6773418" y="2715260"/>
                  </a:lnTo>
                  <a:cubicBezTo>
                    <a:pt x="6773418" y="2799461"/>
                    <a:pt x="6705219" y="2867660"/>
                    <a:pt x="6621018" y="2867660"/>
                  </a:cubicBezTo>
                  <a:lnTo>
                    <a:pt x="152400" y="2867660"/>
                  </a:lnTo>
                  <a:cubicBezTo>
                    <a:pt x="68199" y="2867660"/>
                    <a:pt x="0" y="2799461"/>
                    <a:pt x="0" y="271526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988765" y="4019550"/>
            <a:ext cx="5080035" cy="2150745"/>
            <a:chOff x="0" y="0"/>
            <a:chExt cx="6773380" cy="28676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73418" cy="152400"/>
            </a:xfrm>
            <a:custGeom>
              <a:avLst/>
              <a:gdLst/>
              <a:ahLst/>
              <a:cxnLst/>
              <a:rect r="r" b="b" t="t" l="l"/>
              <a:pathLst>
                <a:path h="15240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cubicBezTo>
                    <a:pt x="6773418" y="110363"/>
                    <a:pt x="6739255" y="76200"/>
                    <a:pt x="6697218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E8743B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369765" y="4434840"/>
            <a:ext cx="4447584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E8743B"/>
                </a:solidFill>
                <a:latin typeface="Arial Bold"/>
                <a:ea typeface="Arial Bold"/>
                <a:cs typeface="Arial Bold"/>
                <a:sym typeface="Arial Bold"/>
              </a:rPr>
              <a:t>No leakage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69765" y="4970145"/>
            <a:ext cx="444758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Only earlier matches feed each feature.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257300"/>
            <a:ext cx="16325088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>
                <a:solidFill>
                  <a:srgbClr val="14202B"/>
                </a:solidFill>
                <a:latin typeface="Georgia"/>
                <a:ea typeface="Georgia"/>
                <a:cs typeface="Georgia"/>
                <a:sym typeface="Georgia"/>
              </a:rPr>
              <a:t>System Architecture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2430780"/>
            <a:ext cx="3333750" cy="2670810"/>
            <a:chOff x="0" y="0"/>
            <a:chExt cx="4445000" cy="35610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45000" cy="3561080"/>
            </a:xfrm>
            <a:custGeom>
              <a:avLst/>
              <a:gdLst/>
              <a:ahLst/>
              <a:cxnLst/>
              <a:rect r="r" b="b" t="t" l="l"/>
              <a:pathLst>
                <a:path h="3561080" w="4445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292600" y="0"/>
                  </a:lnTo>
                  <a:cubicBezTo>
                    <a:pt x="4376801" y="0"/>
                    <a:pt x="4445000" y="68199"/>
                    <a:pt x="4445000" y="152400"/>
                  </a:cubicBezTo>
                  <a:lnTo>
                    <a:pt x="4445000" y="3408680"/>
                  </a:lnTo>
                  <a:cubicBezTo>
                    <a:pt x="4445000" y="3492881"/>
                    <a:pt x="4376801" y="3561080"/>
                    <a:pt x="4292600" y="3561080"/>
                  </a:cubicBezTo>
                  <a:lnTo>
                    <a:pt x="152400" y="3561080"/>
                  </a:lnTo>
                  <a:cubicBezTo>
                    <a:pt x="68199" y="3561080"/>
                    <a:pt x="0" y="3492881"/>
                    <a:pt x="0" y="3408680"/>
                  </a:cubicBezTo>
                  <a:close/>
                </a:path>
              </a:pathLst>
            </a:custGeom>
            <a:solidFill>
              <a:srgbClr val="14202B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562100" y="2754630"/>
            <a:ext cx="2727388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4EFE6"/>
                </a:solidFill>
                <a:latin typeface="Arial Bold"/>
                <a:ea typeface="Arial Bold"/>
                <a:cs typeface="Arial Bold"/>
                <a:sym typeface="Arial Bold"/>
              </a:rPr>
              <a:t>Input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62100" y="3280410"/>
            <a:ext cx="2727388" cy="79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4EFE6"/>
                </a:solidFill>
                <a:latin typeface="Arial"/>
                <a:ea typeface="Arial"/>
                <a:cs typeface="Arial"/>
                <a:sym typeface="Arial"/>
              </a:rPr>
              <a:t>Ball-by-ball IPL data (Kaggle CSV)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05350" y="3297555"/>
            <a:ext cx="640080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E8743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391150" y="2430780"/>
            <a:ext cx="3333750" cy="2670810"/>
            <a:chOff x="0" y="0"/>
            <a:chExt cx="4445000" cy="3561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5000" cy="3561080"/>
            </a:xfrm>
            <a:custGeom>
              <a:avLst/>
              <a:gdLst/>
              <a:ahLst/>
              <a:cxnLst/>
              <a:rect r="r" b="b" t="t" l="l"/>
              <a:pathLst>
                <a:path h="3561080" w="4445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292600" y="0"/>
                  </a:lnTo>
                  <a:cubicBezTo>
                    <a:pt x="4376801" y="0"/>
                    <a:pt x="4445000" y="68199"/>
                    <a:pt x="4445000" y="152400"/>
                  </a:cubicBezTo>
                  <a:lnTo>
                    <a:pt x="4445000" y="3408680"/>
                  </a:lnTo>
                  <a:cubicBezTo>
                    <a:pt x="4445000" y="3492881"/>
                    <a:pt x="4376801" y="3561080"/>
                    <a:pt x="4292600" y="3561080"/>
                  </a:cubicBezTo>
                  <a:lnTo>
                    <a:pt x="152400" y="3561080"/>
                  </a:lnTo>
                  <a:cubicBezTo>
                    <a:pt x="68199" y="3561080"/>
                    <a:pt x="0" y="3492881"/>
                    <a:pt x="0" y="3408680"/>
                  </a:cubicBezTo>
                  <a:close/>
                </a:path>
              </a:pathLst>
            </a:custGeom>
            <a:solidFill>
              <a:srgbClr val="2F7F96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734050" y="2754630"/>
            <a:ext cx="2727388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4EFE6"/>
                </a:solidFill>
                <a:latin typeface="Arial Bold"/>
                <a:ea typeface="Arial Bold"/>
                <a:cs typeface="Arial Bold"/>
                <a:sym typeface="Arial Bold"/>
              </a:rPr>
              <a:t>Processing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34050" y="3280410"/>
            <a:ext cx="2727388" cy="151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4EFE6"/>
                </a:solidFill>
                <a:latin typeface="Arial"/>
                <a:ea typeface="Arial"/>
                <a:cs typeface="Arial"/>
                <a:sym typeface="Arial"/>
              </a:rPr>
              <a:t>Aggregation into batting &amp; bowling stats; feature engineering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77300" y="3297555"/>
            <a:ext cx="640080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E8743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563100" y="2430780"/>
            <a:ext cx="3333750" cy="2670810"/>
            <a:chOff x="0" y="0"/>
            <a:chExt cx="4445000" cy="3561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45000" cy="3561080"/>
            </a:xfrm>
            <a:custGeom>
              <a:avLst/>
              <a:gdLst/>
              <a:ahLst/>
              <a:cxnLst/>
              <a:rect r="r" b="b" t="t" l="l"/>
              <a:pathLst>
                <a:path h="3561080" w="4445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292600" y="0"/>
                  </a:lnTo>
                  <a:cubicBezTo>
                    <a:pt x="4376801" y="0"/>
                    <a:pt x="4445000" y="68199"/>
                    <a:pt x="4445000" y="152400"/>
                  </a:cubicBezTo>
                  <a:lnTo>
                    <a:pt x="4445000" y="3408680"/>
                  </a:lnTo>
                  <a:cubicBezTo>
                    <a:pt x="4445000" y="3492881"/>
                    <a:pt x="4376801" y="3561080"/>
                    <a:pt x="4292600" y="3561080"/>
                  </a:cubicBezTo>
                  <a:lnTo>
                    <a:pt x="152400" y="3561080"/>
                  </a:lnTo>
                  <a:cubicBezTo>
                    <a:pt x="68199" y="3561080"/>
                    <a:pt x="0" y="3492881"/>
                    <a:pt x="0" y="3408680"/>
                  </a:cubicBezTo>
                  <a:close/>
                </a:path>
              </a:pathLst>
            </a:custGeom>
            <a:solidFill>
              <a:srgbClr val="14202B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906000" y="2754630"/>
            <a:ext cx="2727388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4EFE6"/>
                </a:solidFill>
                <a:latin typeface="Arial Bold"/>
                <a:ea typeface="Arial Bold"/>
                <a:cs typeface="Arial Bold"/>
                <a:sym typeface="Arial Bold"/>
              </a:rPr>
              <a:t>Model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06000" y="3280410"/>
            <a:ext cx="2727388" cy="1156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4EFE6"/>
                </a:solidFill>
                <a:latin typeface="Arial"/>
                <a:ea typeface="Arial"/>
                <a:cs typeface="Arial"/>
                <a:sym typeface="Arial"/>
              </a:rPr>
              <a:t>Gradient Boosting Regressor (scikit-learn)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49250" y="3297555"/>
            <a:ext cx="640080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E8743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735050" y="2430780"/>
            <a:ext cx="3333750" cy="2670810"/>
            <a:chOff x="0" y="0"/>
            <a:chExt cx="4445000" cy="3561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45000" cy="3561080"/>
            </a:xfrm>
            <a:custGeom>
              <a:avLst/>
              <a:gdLst/>
              <a:ahLst/>
              <a:cxnLst/>
              <a:rect r="r" b="b" t="t" l="l"/>
              <a:pathLst>
                <a:path h="3561080" w="4445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292600" y="0"/>
                  </a:lnTo>
                  <a:cubicBezTo>
                    <a:pt x="4376801" y="0"/>
                    <a:pt x="4445000" y="68199"/>
                    <a:pt x="4445000" y="152400"/>
                  </a:cubicBezTo>
                  <a:lnTo>
                    <a:pt x="4445000" y="3408680"/>
                  </a:lnTo>
                  <a:cubicBezTo>
                    <a:pt x="4445000" y="3492881"/>
                    <a:pt x="4376801" y="3561080"/>
                    <a:pt x="4292600" y="3561080"/>
                  </a:cubicBezTo>
                  <a:lnTo>
                    <a:pt x="152400" y="3561080"/>
                  </a:lnTo>
                  <a:cubicBezTo>
                    <a:pt x="68199" y="3561080"/>
                    <a:pt x="0" y="3492881"/>
                    <a:pt x="0" y="3408680"/>
                  </a:cubicBezTo>
                  <a:close/>
                </a:path>
              </a:pathLst>
            </a:custGeom>
            <a:solidFill>
              <a:srgbClr val="2F7F96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4077950" y="2754630"/>
            <a:ext cx="2727388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4EFE6"/>
                </a:solidFill>
                <a:latin typeface="Arial Bold"/>
                <a:ea typeface="Arial Bold"/>
                <a:cs typeface="Arial Bold"/>
                <a:sym typeface="Arial Bold"/>
              </a:rPr>
              <a:t>Output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77950" y="3280410"/>
            <a:ext cx="2727388" cy="79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4EFE6"/>
                </a:solidFill>
                <a:latin typeface="Arial"/>
                <a:ea typeface="Arial"/>
                <a:cs typeface="Arial"/>
                <a:sym typeface="Arial"/>
              </a:rPr>
              <a:t>Expected runs shown in web UI or CLI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257300"/>
            <a:ext cx="16325088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>
                <a:solidFill>
                  <a:srgbClr val="14202B"/>
                </a:solidFill>
                <a:latin typeface="Georgia"/>
                <a:ea typeface="Georgia"/>
                <a:cs typeface="Georgia"/>
                <a:sym typeface="Georgia"/>
              </a:rPr>
              <a:t>Methodology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2430780"/>
            <a:ext cx="3333750" cy="3030855"/>
            <a:chOff x="0" y="0"/>
            <a:chExt cx="4445000" cy="40411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45000" cy="4041140"/>
            </a:xfrm>
            <a:custGeom>
              <a:avLst/>
              <a:gdLst/>
              <a:ahLst/>
              <a:cxnLst/>
              <a:rect r="r" b="b" t="t" l="l"/>
              <a:pathLst>
                <a:path h="4041140" w="4445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292600" y="0"/>
                  </a:lnTo>
                  <a:cubicBezTo>
                    <a:pt x="4376801" y="0"/>
                    <a:pt x="4445000" y="68199"/>
                    <a:pt x="4445000" y="152400"/>
                  </a:cubicBezTo>
                  <a:lnTo>
                    <a:pt x="4445000" y="3888740"/>
                  </a:lnTo>
                  <a:cubicBezTo>
                    <a:pt x="4445000" y="3972941"/>
                    <a:pt x="4376801" y="4041140"/>
                    <a:pt x="4292600" y="4041140"/>
                  </a:cubicBezTo>
                  <a:lnTo>
                    <a:pt x="152400" y="4041140"/>
                  </a:lnTo>
                  <a:cubicBezTo>
                    <a:pt x="68199" y="4041140"/>
                    <a:pt x="0" y="3972941"/>
                    <a:pt x="0" y="3888740"/>
                  </a:cubicBezTo>
                  <a:close/>
                </a:path>
              </a:pathLst>
            </a:custGeom>
            <a:solidFill>
              <a:srgbClr val="14202B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562100" y="2754630"/>
            <a:ext cx="2727388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4EFE6"/>
                </a:solidFill>
                <a:latin typeface="Arial Bold"/>
                <a:ea typeface="Arial Bold"/>
                <a:cs typeface="Arial Bold"/>
                <a:sym typeface="Arial Bold"/>
              </a:rPr>
              <a:t>1 Aggregate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62100" y="3280410"/>
            <a:ext cx="2727388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4EFE6"/>
                </a:solidFill>
                <a:latin typeface="Arial"/>
                <a:ea typeface="Arial"/>
                <a:cs typeface="Arial"/>
                <a:sym typeface="Arial"/>
              </a:rPr>
              <a:t>Group deliveries by match and player: runs, strike rate, boundaries, wickets, economy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05350" y="3477587"/>
            <a:ext cx="640080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E8743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391150" y="2430780"/>
            <a:ext cx="3333750" cy="3030855"/>
            <a:chOff x="0" y="0"/>
            <a:chExt cx="4445000" cy="40411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5000" cy="4041140"/>
            </a:xfrm>
            <a:custGeom>
              <a:avLst/>
              <a:gdLst/>
              <a:ahLst/>
              <a:cxnLst/>
              <a:rect r="r" b="b" t="t" l="l"/>
              <a:pathLst>
                <a:path h="4041140" w="4445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292600" y="0"/>
                  </a:lnTo>
                  <a:cubicBezTo>
                    <a:pt x="4376801" y="0"/>
                    <a:pt x="4445000" y="68199"/>
                    <a:pt x="4445000" y="152400"/>
                  </a:cubicBezTo>
                  <a:lnTo>
                    <a:pt x="4445000" y="3888740"/>
                  </a:lnTo>
                  <a:cubicBezTo>
                    <a:pt x="4445000" y="3972941"/>
                    <a:pt x="4376801" y="4041140"/>
                    <a:pt x="4292600" y="4041140"/>
                  </a:cubicBezTo>
                  <a:lnTo>
                    <a:pt x="152400" y="4041140"/>
                  </a:lnTo>
                  <a:cubicBezTo>
                    <a:pt x="68199" y="4041140"/>
                    <a:pt x="0" y="3972941"/>
                    <a:pt x="0" y="3888740"/>
                  </a:cubicBezTo>
                  <a:close/>
                </a:path>
              </a:pathLst>
            </a:custGeom>
            <a:solidFill>
              <a:srgbClr val="2F7F96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734050" y="2754630"/>
            <a:ext cx="2727388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4EFE6"/>
                </a:solidFill>
                <a:latin typeface="Arial Bold"/>
                <a:ea typeface="Arial Bold"/>
                <a:cs typeface="Arial Bold"/>
                <a:sym typeface="Arial Bold"/>
              </a:rPr>
              <a:t>2 Engineer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34050" y="3280410"/>
            <a:ext cx="2727388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4EFE6"/>
                </a:solidFill>
                <a:latin typeface="Arial"/>
                <a:ea typeface="Arial"/>
                <a:cs typeface="Arial"/>
                <a:sym typeface="Arial"/>
              </a:rPr>
              <a:t>Career averages, recent form, opponent and venue stats; shift(1) prevents leakage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77300" y="3477587"/>
            <a:ext cx="640080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E8743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563100" y="2430780"/>
            <a:ext cx="3333750" cy="3030855"/>
            <a:chOff x="0" y="0"/>
            <a:chExt cx="4445000" cy="40411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45000" cy="4041140"/>
            </a:xfrm>
            <a:custGeom>
              <a:avLst/>
              <a:gdLst/>
              <a:ahLst/>
              <a:cxnLst/>
              <a:rect r="r" b="b" t="t" l="l"/>
              <a:pathLst>
                <a:path h="4041140" w="4445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292600" y="0"/>
                  </a:lnTo>
                  <a:cubicBezTo>
                    <a:pt x="4376801" y="0"/>
                    <a:pt x="4445000" y="68199"/>
                    <a:pt x="4445000" y="152400"/>
                  </a:cubicBezTo>
                  <a:lnTo>
                    <a:pt x="4445000" y="3888740"/>
                  </a:lnTo>
                  <a:cubicBezTo>
                    <a:pt x="4445000" y="3972941"/>
                    <a:pt x="4376801" y="4041140"/>
                    <a:pt x="4292600" y="4041140"/>
                  </a:cubicBezTo>
                  <a:lnTo>
                    <a:pt x="152400" y="4041140"/>
                  </a:lnTo>
                  <a:cubicBezTo>
                    <a:pt x="68199" y="4041140"/>
                    <a:pt x="0" y="3972941"/>
                    <a:pt x="0" y="3888740"/>
                  </a:cubicBezTo>
                  <a:close/>
                </a:path>
              </a:pathLst>
            </a:custGeom>
            <a:solidFill>
              <a:srgbClr val="14202B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906000" y="2754630"/>
            <a:ext cx="2727388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4EFE6"/>
                </a:solidFill>
                <a:latin typeface="Arial Bold"/>
                <a:ea typeface="Arial Bold"/>
                <a:cs typeface="Arial Bold"/>
                <a:sym typeface="Arial Bold"/>
              </a:rPr>
              <a:t>3 Train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06000" y="3280410"/>
            <a:ext cx="2727388" cy="151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4EFE6"/>
                </a:solidFill>
                <a:latin typeface="Arial"/>
                <a:ea typeface="Arial"/>
                <a:cs typeface="Arial"/>
                <a:sym typeface="Arial"/>
              </a:rPr>
              <a:t>Gradient Boosting Regressor with a chronological train/test split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49250" y="3477587"/>
            <a:ext cx="640080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E8743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735050" y="2430780"/>
            <a:ext cx="3333750" cy="3030855"/>
            <a:chOff x="0" y="0"/>
            <a:chExt cx="4445000" cy="40411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45000" cy="4041140"/>
            </a:xfrm>
            <a:custGeom>
              <a:avLst/>
              <a:gdLst/>
              <a:ahLst/>
              <a:cxnLst/>
              <a:rect r="r" b="b" t="t" l="l"/>
              <a:pathLst>
                <a:path h="4041140" w="4445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292600" y="0"/>
                  </a:lnTo>
                  <a:cubicBezTo>
                    <a:pt x="4376801" y="0"/>
                    <a:pt x="4445000" y="68199"/>
                    <a:pt x="4445000" y="152400"/>
                  </a:cubicBezTo>
                  <a:lnTo>
                    <a:pt x="4445000" y="3888740"/>
                  </a:lnTo>
                  <a:cubicBezTo>
                    <a:pt x="4445000" y="3972941"/>
                    <a:pt x="4376801" y="4041140"/>
                    <a:pt x="4292600" y="4041140"/>
                  </a:cubicBezTo>
                  <a:lnTo>
                    <a:pt x="152400" y="4041140"/>
                  </a:lnTo>
                  <a:cubicBezTo>
                    <a:pt x="68199" y="4041140"/>
                    <a:pt x="0" y="3972941"/>
                    <a:pt x="0" y="3888740"/>
                  </a:cubicBezTo>
                  <a:close/>
                </a:path>
              </a:pathLst>
            </a:custGeom>
            <a:solidFill>
              <a:srgbClr val="2F7F96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4077950" y="2754630"/>
            <a:ext cx="2727388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4EFE6"/>
                </a:solidFill>
                <a:latin typeface="Arial Bold"/>
                <a:ea typeface="Arial Bold"/>
                <a:cs typeface="Arial Bold"/>
                <a:sym typeface="Arial Bold"/>
              </a:rPr>
              <a:t>4 Evaluate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77950" y="3280410"/>
            <a:ext cx="2727388" cy="79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4EFE6"/>
                </a:solidFill>
                <a:latin typeface="Arial"/>
                <a:ea typeface="Arial"/>
                <a:cs typeface="Arial"/>
                <a:sym typeface="Arial"/>
              </a:rPr>
              <a:t>MAE and RMSE on later matches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257300"/>
            <a:ext cx="16325088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>
                <a:solidFill>
                  <a:srgbClr val="14202B"/>
                </a:solidFill>
                <a:latin typeface="Georgia"/>
                <a:ea typeface="Georgia"/>
                <a:cs typeface="Georgia"/>
                <a:sym typeface="Georgia"/>
              </a:rPr>
              <a:t>Technology Stack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234440" y="2446022"/>
          <a:ext cx="15811500" cy="5753100"/>
        </p:xfrm>
        <a:graphic>
          <a:graphicData uri="http://schemas.openxmlformats.org/drawingml/2006/table">
            <a:tbl>
              <a:tblPr/>
              <a:tblGrid>
                <a:gridCol w="7905750"/>
                <a:gridCol w="7905750"/>
              </a:tblGrid>
              <a:tr h="8229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4EFE6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Layer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5B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5B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4EFE6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Tools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B5B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5B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5B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B"/>
                    </a:solidFill>
                  </a:tcPr>
                </a:tc>
              </a:tr>
              <a:tr h="8229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1420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Language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5B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1420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Python 3.14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5B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072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1420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 &amp; ML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1420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pandas, scikit-learn (GradientBoostingRegressor), joblib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1420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Backend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1420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Flask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1420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Frontend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1420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HTML, CSS, vanilla JavaScript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072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1420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 store &amp; hosting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1420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CSV files, runs locally; Git and GitHub for version control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257300"/>
            <a:ext cx="16325088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>
                <a:solidFill>
                  <a:srgbClr val="F4EFE6"/>
                </a:solidFill>
                <a:latin typeface="Georgia"/>
                <a:ea typeface="Georgia"/>
                <a:cs typeface="Georgia"/>
                <a:sym typeface="Georgia"/>
              </a:rPr>
              <a:t>System Modules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2430780"/>
            <a:ext cx="5079921" cy="2150745"/>
            <a:chOff x="0" y="0"/>
            <a:chExt cx="6773228" cy="2867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73291" cy="2867660"/>
            </a:xfrm>
            <a:custGeom>
              <a:avLst/>
              <a:gdLst/>
              <a:ahLst/>
              <a:cxnLst/>
              <a:rect r="r" b="b" t="t" l="l"/>
              <a:pathLst>
                <a:path h="2867660" w="6773291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0891" y="0"/>
                  </a:lnTo>
                  <a:cubicBezTo>
                    <a:pt x="6705092" y="0"/>
                    <a:pt x="6773291" y="68199"/>
                    <a:pt x="6773291" y="152400"/>
                  </a:cubicBezTo>
                  <a:lnTo>
                    <a:pt x="6773291" y="2715260"/>
                  </a:lnTo>
                  <a:cubicBezTo>
                    <a:pt x="6773291" y="2799461"/>
                    <a:pt x="6705092" y="2867660"/>
                    <a:pt x="6620891" y="2867660"/>
                  </a:cubicBezTo>
                  <a:lnTo>
                    <a:pt x="152400" y="2867660"/>
                  </a:lnTo>
                  <a:cubicBezTo>
                    <a:pt x="68199" y="2867660"/>
                    <a:pt x="0" y="2799461"/>
                    <a:pt x="0" y="271526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19200" y="2430780"/>
            <a:ext cx="5079921" cy="2150745"/>
            <a:chOff x="0" y="0"/>
            <a:chExt cx="6773228" cy="28676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73291" cy="152400"/>
            </a:xfrm>
            <a:custGeom>
              <a:avLst/>
              <a:gdLst/>
              <a:ahLst/>
              <a:cxnLst/>
              <a:rect r="r" b="b" t="t" l="l"/>
              <a:pathLst>
                <a:path h="152400" w="6773291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0891" y="0"/>
                  </a:lnTo>
                  <a:cubicBezTo>
                    <a:pt x="6705092" y="0"/>
                    <a:pt x="6773291" y="68199"/>
                    <a:pt x="6773291" y="152400"/>
                  </a:cubicBezTo>
                  <a:cubicBezTo>
                    <a:pt x="6773291" y="110363"/>
                    <a:pt x="6739128" y="76200"/>
                    <a:pt x="6697091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E8743B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00200" y="2846070"/>
            <a:ext cx="4447461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E8743B"/>
                </a:solidFill>
                <a:latin typeface="Arial Bold"/>
                <a:ea typeface="Arial Bold"/>
                <a:cs typeface="Arial Bold"/>
                <a:sym typeface="Arial Bold"/>
              </a:rPr>
              <a:t>Data pipeline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0200" y="3381375"/>
            <a:ext cx="4447461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build_features.py aggregates deliveries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603921" y="2430780"/>
            <a:ext cx="5080035" cy="2150745"/>
            <a:chOff x="0" y="0"/>
            <a:chExt cx="6773380" cy="28676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73418" cy="2867660"/>
            </a:xfrm>
            <a:custGeom>
              <a:avLst/>
              <a:gdLst/>
              <a:ahLst/>
              <a:cxnLst/>
              <a:rect r="r" b="b" t="t" l="l"/>
              <a:pathLst>
                <a:path h="286766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lnTo>
                    <a:pt x="6773418" y="2715260"/>
                  </a:lnTo>
                  <a:cubicBezTo>
                    <a:pt x="6773418" y="2799461"/>
                    <a:pt x="6705219" y="2867660"/>
                    <a:pt x="6621018" y="2867660"/>
                  </a:cubicBezTo>
                  <a:lnTo>
                    <a:pt x="152400" y="2867660"/>
                  </a:lnTo>
                  <a:cubicBezTo>
                    <a:pt x="68199" y="2867660"/>
                    <a:pt x="0" y="2799461"/>
                    <a:pt x="0" y="271526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603921" y="2430780"/>
            <a:ext cx="5080035" cy="2150745"/>
            <a:chOff x="0" y="0"/>
            <a:chExt cx="6773380" cy="28676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73418" cy="152400"/>
            </a:xfrm>
            <a:custGeom>
              <a:avLst/>
              <a:gdLst/>
              <a:ahLst/>
              <a:cxnLst/>
              <a:rect r="r" b="b" t="t" l="l"/>
              <a:pathLst>
                <a:path h="15240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cubicBezTo>
                    <a:pt x="6773418" y="110363"/>
                    <a:pt x="6739255" y="76200"/>
                    <a:pt x="6697218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2F7F96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984921" y="2846070"/>
            <a:ext cx="4447584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E8743B"/>
                </a:solidFill>
                <a:latin typeface="Arial Bold"/>
                <a:ea typeface="Arial Bold"/>
                <a:cs typeface="Arial Bold"/>
                <a:sym typeface="Arial Bold"/>
              </a:rPr>
              <a:t>Feature engineering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84921" y="3381375"/>
            <a:ext cx="444758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Career, recent-form, opponent and venue features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988765" y="2430780"/>
            <a:ext cx="5080035" cy="2150745"/>
            <a:chOff x="0" y="0"/>
            <a:chExt cx="6773380" cy="28676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73418" cy="2867660"/>
            </a:xfrm>
            <a:custGeom>
              <a:avLst/>
              <a:gdLst/>
              <a:ahLst/>
              <a:cxnLst/>
              <a:rect r="r" b="b" t="t" l="l"/>
              <a:pathLst>
                <a:path h="286766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lnTo>
                    <a:pt x="6773418" y="2715260"/>
                  </a:lnTo>
                  <a:cubicBezTo>
                    <a:pt x="6773418" y="2799461"/>
                    <a:pt x="6705219" y="2867660"/>
                    <a:pt x="6621018" y="2867660"/>
                  </a:cubicBezTo>
                  <a:lnTo>
                    <a:pt x="152400" y="2867660"/>
                  </a:lnTo>
                  <a:cubicBezTo>
                    <a:pt x="68199" y="2867660"/>
                    <a:pt x="0" y="2799461"/>
                    <a:pt x="0" y="271526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988765" y="2430780"/>
            <a:ext cx="5080035" cy="2150745"/>
            <a:chOff x="0" y="0"/>
            <a:chExt cx="6773380" cy="28676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73418" cy="152400"/>
            </a:xfrm>
            <a:custGeom>
              <a:avLst/>
              <a:gdLst/>
              <a:ahLst/>
              <a:cxnLst/>
              <a:rect r="r" b="b" t="t" l="l"/>
              <a:pathLst>
                <a:path h="15240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cubicBezTo>
                    <a:pt x="6773418" y="110363"/>
                    <a:pt x="6739255" y="76200"/>
                    <a:pt x="6697218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E8743B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369765" y="2846070"/>
            <a:ext cx="4447584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E8743B"/>
                </a:solidFill>
                <a:latin typeface="Arial Bold"/>
                <a:ea typeface="Arial Bold"/>
                <a:cs typeface="Arial Bold"/>
                <a:sym typeface="Arial Bold"/>
              </a:rPr>
              <a:t>ML module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69765" y="3381375"/>
            <a:ext cx="444758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Trains and saves model with joblib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19200" y="4886325"/>
            <a:ext cx="5079921" cy="2150745"/>
            <a:chOff x="0" y="0"/>
            <a:chExt cx="6773228" cy="28676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773291" cy="2867660"/>
            </a:xfrm>
            <a:custGeom>
              <a:avLst/>
              <a:gdLst/>
              <a:ahLst/>
              <a:cxnLst/>
              <a:rect r="r" b="b" t="t" l="l"/>
              <a:pathLst>
                <a:path h="2867660" w="6773291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0891" y="0"/>
                  </a:lnTo>
                  <a:cubicBezTo>
                    <a:pt x="6705092" y="0"/>
                    <a:pt x="6773291" y="68199"/>
                    <a:pt x="6773291" y="152400"/>
                  </a:cubicBezTo>
                  <a:lnTo>
                    <a:pt x="6773291" y="2715260"/>
                  </a:lnTo>
                  <a:cubicBezTo>
                    <a:pt x="6773291" y="2799461"/>
                    <a:pt x="6705092" y="2867660"/>
                    <a:pt x="6620891" y="2867660"/>
                  </a:cubicBezTo>
                  <a:lnTo>
                    <a:pt x="152400" y="2867660"/>
                  </a:lnTo>
                  <a:cubicBezTo>
                    <a:pt x="68199" y="2867660"/>
                    <a:pt x="0" y="2799461"/>
                    <a:pt x="0" y="271526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19200" y="4886325"/>
            <a:ext cx="5079921" cy="2150745"/>
            <a:chOff x="0" y="0"/>
            <a:chExt cx="6773228" cy="28676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773291" cy="152400"/>
            </a:xfrm>
            <a:custGeom>
              <a:avLst/>
              <a:gdLst/>
              <a:ahLst/>
              <a:cxnLst/>
              <a:rect r="r" b="b" t="t" l="l"/>
              <a:pathLst>
                <a:path h="152400" w="6773291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0891" y="0"/>
                  </a:lnTo>
                  <a:cubicBezTo>
                    <a:pt x="6705092" y="0"/>
                    <a:pt x="6773291" y="68199"/>
                    <a:pt x="6773291" y="152400"/>
                  </a:cubicBezTo>
                  <a:cubicBezTo>
                    <a:pt x="6773291" y="110363"/>
                    <a:pt x="6739128" y="76200"/>
                    <a:pt x="6697091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2F7F96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600200" y="5301625"/>
            <a:ext cx="4447461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E8743B"/>
                </a:solidFill>
                <a:latin typeface="Arial Bold"/>
                <a:ea typeface="Arial Bold"/>
                <a:cs typeface="Arial Bold"/>
                <a:sym typeface="Arial Bold"/>
              </a:rPr>
              <a:t>Prediction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00200" y="5836920"/>
            <a:ext cx="4447461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predict.py loads model; main.py CLI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603921" y="4886325"/>
            <a:ext cx="5080035" cy="2150745"/>
            <a:chOff x="0" y="0"/>
            <a:chExt cx="6773380" cy="28676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73418" cy="2867660"/>
            </a:xfrm>
            <a:custGeom>
              <a:avLst/>
              <a:gdLst/>
              <a:ahLst/>
              <a:cxnLst/>
              <a:rect r="r" b="b" t="t" l="l"/>
              <a:pathLst>
                <a:path h="286766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lnTo>
                    <a:pt x="6773418" y="2715260"/>
                  </a:lnTo>
                  <a:cubicBezTo>
                    <a:pt x="6773418" y="2799461"/>
                    <a:pt x="6705219" y="2867660"/>
                    <a:pt x="6621018" y="2867660"/>
                  </a:cubicBezTo>
                  <a:lnTo>
                    <a:pt x="152400" y="2867660"/>
                  </a:lnTo>
                  <a:cubicBezTo>
                    <a:pt x="68199" y="2867660"/>
                    <a:pt x="0" y="2799461"/>
                    <a:pt x="0" y="271526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603921" y="4886325"/>
            <a:ext cx="5080035" cy="2150745"/>
            <a:chOff x="0" y="0"/>
            <a:chExt cx="6773380" cy="28676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773418" cy="152400"/>
            </a:xfrm>
            <a:custGeom>
              <a:avLst/>
              <a:gdLst/>
              <a:ahLst/>
              <a:cxnLst/>
              <a:rect r="r" b="b" t="t" l="l"/>
              <a:pathLst>
                <a:path h="15240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cubicBezTo>
                    <a:pt x="6773418" y="110363"/>
                    <a:pt x="6739255" y="76200"/>
                    <a:pt x="6697218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E8743B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6984921" y="5301625"/>
            <a:ext cx="4447584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E8743B"/>
                </a:solidFill>
                <a:latin typeface="Arial Bold"/>
                <a:ea typeface="Arial Bold"/>
                <a:cs typeface="Arial Bold"/>
                <a:sym typeface="Arial Bold"/>
              </a:rPr>
              <a:t>Web UI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984921" y="5836920"/>
            <a:ext cx="444758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server.py with templates and static files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1988765" y="4886325"/>
            <a:ext cx="5080035" cy="2150745"/>
            <a:chOff x="0" y="0"/>
            <a:chExt cx="6773380" cy="28676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773418" cy="2867660"/>
            </a:xfrm>
            <a:custGeom>
              <a:avLst/>
              <a:gdLst/>
              <a:ahLst/>
              <a:cxnLst/>
              <a:rect r="r" b="b" t="t" l="l"/>
              <a:pathLst>
                <a:path h="286766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lnTo>
                    <a:pt x="6773418" y="2715260"/>
                  </a:lnTo>
                  <a:cubicBezTo>
                    <a:pt x="6773418" y="2799461"/>
                    <a:pt x="6705219" y="2867660"/>
                    <a:pt x="6621018" y="2867660"/>
                  </a:cubicBezTo>
                  <a:lnTo>
                    <a:pt x="152400" y="2867660"/>
                  </a:lnTo>
                  <a:cubicBezTo>
                    <a:pt x="68199" y="2867660"/>
                    <a:pt x="0" y="2799461"/>
                    <a:pt x="0" y="271526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988765" y="4886325"/>
            <a:ext cx="5080035" cy="2150745"/>
            <a:chOff x="0" y="0"/>
            <a:chExt cx="6773380" cy="28676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773418" cy="152400"/>
            </a:xfrm>
            <a:custGeom>
              <a:avLst/>
              <a:gdLst/>
              <a:ahLst/>
              <a:cxnLst/>
              <a:rect r="r" b="b" t="t" l="l"/>
              <a:pathLst>
                <a:path h="15240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cubicBezTo>
                    <a:pt x="6773418" y="110363"/>
                    <a:pt x="6739255" y="76200"/>
                    <a:pt x="6697218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2F7F96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2369765" y="5301625"/>
            <a:ext cx="4447584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E8743B"/>
                </a:solidFill>
                <a:latin typeface="Arial Bold"/>
                <a:ea typeface="Arial Bold"/>
                <a:cs typeface="Arial Bold"/>
                <a:sym typeface="Arial Bold"/>
              </a:rPr>
              <a:t>Storage &amp; security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369765" y="5836920"/>
            <a:ext cx="444758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CSV outputs; no database or login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257300"/>
            <a:ext cx="16325088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>
                <a:solidFill>
                  <a:srgbClr val="14202B"/>
                </a:solidFill>
                <a:latin typeface="Georgia"/>
                <a:ea typeface="Georgia"/>
                <a:cs typeface="Georgia"/>
                <a:sym typeface="Georgia"/>
              </a:rPr>
              <a:t>Implementation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03401" y="2335530"/>
            <a:ext cx="16229457" cy="270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14202B"/>
                </a:solidFill>
                <a:latin typeface="Arial"/>
                <a:ea typeface="Arial"/>
                <a:cs typeface="Arial"/>
                <a:sym typeface="Arial"/>
              </a:rPr>
              <a:t>Download the Kaggle dataset into dataset/</a:t>
            </a:r>
          </a:p>
          <a:p>
            <a:pPr algn="l" marL="488632" indent="-244316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14202B"/>
                </a:solidFill>
                <a:latin typeface="Arial"/>
                <a:ea typeface="Arial"/>
                <a:cs typeface="Arial"/>
                <a:sym typeface="Arial"/>
              </a:rPr>
              <a:t>Run </a:t>
            </a:r>
            <a:r>
              <a:rPr lang="en-US" b="true" sz="2700">
                <a:solidFill>
                  <a:srgbClr val="14202B"/>
                </a:solidFill>
                <a:latin typeface="Arial Bold"/>
                <a:ea typeface="Arial Bold"/>
                <a:cs typeface="Arial Bold"/>
                <a:sym typeface="Arial Bold"/>
              </a:rPr>
              <a:t>python src/build_features.py</a:t>
            </a:r>
            <a:r>
              <a:rPr lang="en-US" sz="2700">
                <a:solidFill>
                  <a:srgbClr val="14202B"/>
                </a:solidFill>
                <a:latin typeface="Arial"/>
                <a:ea typeface="Arial"/>
                <a:cs typeface="Arial"/>
                <a:sym typeface="Arial"/>
              </a:rPr>
              <a:t> to build features and train the model</a:t>
            </a:r>
          </a:p>
          <a:p>
            <a:pPr algn="l" marL="488632" indent="-244316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14202B"/>
                </a:solidFill>
                <a:latin typeface="Arial"/>
                <a:ea typeface="Arial"/>
                <a:cs typeface="Arial"/>
                <a:sym typeface="Arial"/>
              </a:rPr>
              <a:t>Model saved as outputs/player_performance_model.pkl</a:t>
            </a:r>
          </a:p>
          <a:p>
            <a:pPr algn="l" marL="488632" indent="-244316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14202B"/>
                </a:solidFill>
                <a:latin typeface="Arial"/>
                <a:ea typeface="Arial"/>
                <a:cs typeface="Arial"/>
                <a:sym typeface="Arial"/>
              </a:rPr>
              <a:t>Run </a:t>
            </a:r>
            <a:r>
              <a:rPr lang="en-US" b="true" sz="2700">
                <a:solidFill>
                  <a:srgbClr val="14202B"/>
                </a:solidFill>
                <a:latin typeface="Arial Bold"/>
                <a:ea typeface="Arial Bold"/>
                <a:cs typeface="Arial Bold"/>
                <a:sym typeface="Arial Bold"/>
              </a:rPr>
              <a:t>python server.py</a:t>
            </a:r>
            <a:r>
              <a:rPr lang="en-US" sz="2700">
                <a:solidFill>
                  <a:srgbClr val="14202B"/>
                </a:solidFill>
                <a:latin typeface="Arial"/>
                <a:ea typeface="Arial"/>
                <a:cs typeface="Arial"/>
                <a:sym typeface="Arial"/>
              </a:rPr>
              <a:t> and open http://127.0.0.1:5000</a:t>
            </a:r>
          </a:p>
          <a:p>
            <a:pPr algn="l" marL="488632" indent="-244316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14202B"/>
                </a:solidFill>
                <a:latin typeface="Arial"/>
                <a:ea typeface="Arial"/>
                <a:cs typeface="Arial"/>
                <a:sym typeface="Arial"/>
              </a:rPr>
              <a:t>Or run </a:t>
            </a:r>
            <a:r>
              <a:rPr lang="en-US" b="true" sz="2700">
                <a:solidFill>
                  <a:srgbClr val="14202B"/>
                </a:solidFill>
                <a:latin typeface="Arial Bold"/>
                <a:ea typeface="Arial Bold"/>
                <a:cs typeface="Arial Bold"/>
                <a:sym typeface="Arial Bold"/>
              </a:rPr>
              <a:t>python main.py</a:t>
            </a:r>
            <a:r>
              <a:rPr lang="en-US" sz="2700">
                <a:solidFill>
                  <a:srgbClr val="14202B"/>
                </a:solidFill>
                <a:latin typeface="Arial"/>
                <a:ea typeface="Arial"/>
                <a:cs typeface="Arial"/>
                <a:sym typeface="Arial"/>
              </a:rPr>
              <a:t> for command-line predictions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257300"/>
            <a:ext cx="16325088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>
                <a:solidFill>
                  <a:srgbClr val="F4EFE6"/>
                </a:solidFill>
                <a:latin typeface="Georgia"/>
                <a:ea typeface="Georgia"/>
                <a:cs typeface="Georgia"/>
                <a:sym typeface="Georgia"/>
              </a:rPr>
              <a:t>Dataset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2430780"/>
            <a:ext cx="7772400" cy="2150745"/>
            <a:chOff x="0" y="0"/>
            <a:chExt cx="10363200" cy="2867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63200" cy="2867660"/>
            </a:xfrm>
            <a:custGeom>
              <a:avLst/>
              <a:gdLst/>
              <a:ahLst/>
              <a:cxnLst/>
              <a:rect r="r" b="b" t="t" l="l"/>
              <a:pathLst>
                <a:path h="2867660" w="103632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0210800" y="0"/>
                  </a:lnTo>
                  <a:cubicBezTo>
                    <a:pt x="10295001" y="0"/>
                    <a:pt x="10363200" y="68199"/>
                    <a:pt x="10363200" y="152400"/>
                  </a:cubicBezTo>
                  <a:lnTo>
                    <a:pt x="10363200" y="2715260"/>
                  </a:lnTo>
                  <a:cubicBezTo>
                    <a:pt x="10363200" y="2799461"/>
                    <a:pt x="10295001" y="2867660"/>
                    <a:pt x="10210800" y="2867660"/>
                  </a:cubicBezTo>
                  <a:lnTo>
                    <a:pt x="152400" y="2867660"/>
                  </a:lnTo>
                  <a:cubicBezTo>
                    <a:pt x="68199" y="2867660"/>
                    <a:pt x="0" y="2799461"/>
                    <a:pt x="0" y="271526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19200" y="2430780"/>
            <a:ext cx="7772400" cy="2150745"/>
            <a:chOff x="0" y="0"/>
            <a:chExt cx="10363200" cy="28676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363200" cy="152400"/>
            </a:xfrm>
            <a:custGeom>
              <a:avLst/>
              <a:gdLst/>
              <a:ahLst/>
              <a:cxnLst/>
              <a:rect r="r" b="b" t="t" l="l"/>
              <a:pathLst>
                <a:path h="152400" w="103632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0210800" y="0"/>
                  </a:lnTo>
                  <a:cubicBezTo>
                    <a:pt x="10295001" y="0"/>
                    <a:pt x="10363200" y="68199"/>
                    <a:pt x="10363200" y="152400"/>
                  </a:cubicBezTo>
                  <a:cubicBezTo>
                    <a:pt x="10363200" y="110363"/>
                    <a:pt x="10329037" y="76200"/>
                    <a:pt x="10287000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E8743B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00200" y="2846070"/>
            <a:ext cx="7220712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E8743B"/>
                </a:solidFill>
                <a:latin typeface="Arial Bold"/>
                <a:ea typeface="Arial Bold"/>
                <a:cs typeface="Arial Bold"/>
                <a:sym typeface="Arial Bold"/>
              </a:rPr>
              <a:t>Name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0200" y="3381375"/>
            <a:ext cx="7220712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Ball-by-Ball IPL (Kaggle: jamiewelsh2/ball-by-ball-ipl), 2008–2023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296400" y="2430780"/>
            <a:ext cx="7772400" cy="2150745"/>
            <a:chOff x="0" y="0"/>
            <a:chExt cx="10363200" cy="28676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363200" cy="2867660"/>
            </a:xfrm>
            <a:custGeom>
              <a:avLst/>
              <a:gdLst/>
              <a:ahLst/>
              <a:cxnLst/>
              <a:rect r="r" b="b" t="t" l="l"/>
              <a:pathLst>
                <a:path h="2867660" w="103632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0210800" y="0"/>
                  </a:lnTo>
                  <a:cubicBezTo>
                    <a:pt x="10295001" y="0"/>
                    <a:pt x="10363200" y="68199"/>
                    <a:pt x="10363200" y="152400"/>
                  </a:cubicBezTo>
                  <a:lnTo>
                    <a:pt x="10363200" y="2715260"/>
                  </a:lnTo>
                  <a:cubicBezTo>
                    <a:pt x="10363200" y="2799461"/>
                    <a:pt x="10295001" y="2867660"/>
                    <a:pt x="10210800" y="2867660"/>
                  </a:cubicBezTo>
                  <a:lnTo>
                    <a:pt x="152400" y="2867660"/>
                  </a:lnTo>
                  <a:cubicBezTo>
                    <a:pt x="68199" y="2867660"/>
                    <a:pt x="0" y="2799461"/>
                    <a:pt x="0" y="271526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296400" y="2430780"/>
            <a:ext cx="7772400" cy="2150745"/>
            <a:chOff x="0" y="0"/>
            <a:chExt cx="10363200" cy="28676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63200" cy="152400"/>
            </a:xfrm>
            <a:custGeom>
              <a:avLst/>
              <a:gdLst/>
              <a:ahLst/>
              <a:cxnLst/>
              <a:rect r="r" b="b" t="t" l="l"/>
              <a:pathLst>
                <a:path h="152400" w="103632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0210800" y="0"/>
                  </a:lnTo>
                  <a:cubicBezTo>
                    <a:pt x="10295001" y="0"/>
                    <a:pt x="10363200" y="68199"/>
                    <a:pt x="10363200" y="152400"/>
                  </a:cubicBezTo>
                  <a:cubicBezTo>
                    <a:pt x="10363200" y="110363"/>
                    <a:pt x="10329037" y="76200"/>
                    <a:pt x="10287000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2F7F96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677400" y="2846070"/>
            <a:ext cx="7220712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E8743B"/>
                </a:solidFill>
                <a:latin typeface="Arial Bold"/>
                <a:ea typeface="Arial Bold"/>
                <a:cs typeface="Arial Bold"/>
                <a:sym typeface="Arial Bold"/>
              </a:rPr>
              <a:t>Records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77400" y="3381375"/>
            <a:ext cx="7220712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[number of deliveries / player-match rows]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19200" y="4886325"/>
            <a:ext cx="7772400" cy="2150745"/>
            <a:chOff x="0" y="0"/>
            <a:chExt cx="10363200" cy="28676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363200" cy="2867660"/>
            </a:xfrm>
            <a:custGeom>
              <a:avLst/>
              <a:gdLst/>
              <a:ahLst/>
              <a:cxnLst/>
              <a:rect r="r" b="b" t="t" l="l"/>
              <a:pathLst>
                <a:path h="2867660" w="103632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0210800" y="0"/>
                  </a:lnTo>
                  <a:cubicBezTo>
                    <a:pt x="10295001" y="0"/>
                    <a:pt x="10363200" y="68199"/>
                    <a:pt x="10363200" y="152400"/>
                  </a:cubicBezTo>
                  <a:lnTo>
                    <a:pt x="10363200" y="2715260"/>
                  </a:lnTo>
                  <a:cubicBezTo>
                    <a:pt x="10363200" y="2799461"/>
                    <a:pt x="10295001" y="2867660"/>
                    <a:pt x="10210800" y="2867660"/>
                  </a:cubicBezTo>
                  <a:lnTo>
                    <a:pt x="152400" y="2867660"/>
                  </a:lnTo>
                  <a:cubicBezTo>
                    <a:pt x="68199" y="2867660"/>
                    <a:pt x="0" y="2799461"/>
                    <a:pt x="0" y="271526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19200" y="4886325"/>
            <a:ext cx="7772400" cy="2150745"/>
            <a:chOff x="0" y="0"/>
            <a:chExt cx="10363200" cy="28676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363200" cy="152400"/>
            </a:xfrm>
            <a:custGeom>
              <a:avLst/>
              <a:gdLst/>
              <a:ahLst/>
              <a:cxnLst/>
              <a:rect r="r" b="b" t="t" l="l"/>
              <a:pathLst>
                <a:path h="152400" w="103632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0210800" y="0"/>
                  </a:lnTo>
                  <a:cubicBezTo>
                    <a:pt x="10295001" y="0"/>
                    <a:pt x="10363200" y="68199"/>
                    <a:pt x="10363200" y="152400"/>
                  </a:cubicBezTo>
                  <a:cubicBezTo>
                    <a:pt x="10363200" y="110363"/>
                    <a:pt x="10329037" y="76200"/>
                    <a:pt x="10287000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E8743B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600200" y="5301625"/>
            <a:ext cx="7220712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E8743B"/>
                </a:solidFill>
                <a:latin typeface="Arial Bold"/>
                <a:ea typeface="Arial Bold"/>
                <a:cs typeface="Arial Bold"/>
                <a:sym typeface="Arial Bold"/>
              </a:rPr>
              <a:t>Features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00200" y="5836920"/>
            <a:ext cx="7220712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career_avg_runs, career strike rate, last-5 form, opponent and venue averages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296400" y="4886325"/>
            <a:ext cx="7772400" cy="2150745"/>
            <a:chOff x="0" y="0"/>
            <a:chExt cx="10363200" cy="28676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363200" cy="2867660"/>
            </a:xfrm>
            <a:custGeom>
              <a:avLst/>
              <a:gdLst/>
              <a:ahLst/>
              <a:cxnLst/>
              <a:rect r="r" b="b" t="t" l="l"/>
              <a:pathLst>
                <a:path h="2867660" w="103632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0210800" y="0"/>
                  </a:lnTo>
                  <a:cubicBezTo>
                    <a:pt x="10295001" y="0"/>
                    <a:pt x="10363200" y="68199"/>
                    <a:pt x="10363200" y="152400"/>
                  </a:cubicBezTo>
                  <a:lnTo>
                    <a:pt x="10363200" y="2715260"/>
                  </a:lnTo>
                  <a:cubicBezTo>
                    <a:pt x="10363200" y="2799461"/>
                    <a:pt x="10295001" y="2867660"/>
                    <a:pt x="10210800" y="2867660"/>
                  </a:cubicBezTo>
                  <a:lnTo>
                    <a:pt x="152400" y="2867660"/>
                  </a:lnTo>
                  <a:cubicBezTo>
                    <a:pt x="68199" y="2867660"/>
                    <a:pt x="0" y="2799461"/>
                    <a:pt x="0" y="271526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296400" y="4886325"/>
            <a:ext cx="7772400" cy="2150745"/>
            <a:chOff x="0" y="0"/>
            <a:chExt cx="10363200" cy="28676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363200" cy="152400"/>
            </a:xfrm>
            <a:custGeom>
              <a:avLst/>
              <a:gdLst/>
              <a:ahLst/>
              <a:cxnLst/>
              <a:rect r="r" b="b" t="t" l="l"/>
              <a:pathLst>
                <a:path h="152400" w="103632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0210800" y="0"/>
                  </a:lnTo>
                  <a:cubicBezTo>
                    <a:pt x="10295001" y="0"/>
                    <a:pt x="10363200" y="68199"/>
                    <a:pt x="10363200" y="152400"/>
                  </a:cubicBezTo>
                  <a:cubicBezTo>
                    <a:pt x="10363200" y="110363"/>
                    <a:pt x="10329037" y="76200"/>
                    <a:pt x="10287000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2F7F96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677400" y="5301625"/>
            <a:ext cx="7220712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E8743B"/>
                </a:solidFill>
                <a:latin typeface="Arial Bold"/>
                <a:ea typeface="Arial Bold"/>
                <a:cs typeface="Arial Bold"/>
                <a:sym typeface="Arial Bold"/>
              </a:rPr>
              <a:t>Preprocessing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77400" y="5836920"/>
            <a:ext cx="7220712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Per-match aggregation, shift(1) before rolling and expanding calculations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257300"/>
            <a:ext cx="16325088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>
                <a:solidFill>
                  <a:srgbClr val="14202B"/>
                </a:solidFill>
                <a:latin typeface="Georgia"/>
                <a:ea typeface="Georgia"/>
                <a:cs typeface="Georgia"/>
                <a:sym typeface="Georgia"/>
              </a:rPr>
              <a:t>Algorithm / Model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2430780"/>
            <a:ext cx="7772400" cy="1764983"/>
            <a:chOff x="0" y="0"/>
            <a:chExt cx="10363200" cy="23533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63200" cy="2353310"/>
            </a:xfrm>
            <a:custGeom>
              <a:avLst/>
              <a:gdLst/>
              <a:ahLst/>
              <a:cxnLst/>
              <a:rect r="r" b="b" t="t" l="l"/>
              <a:pathLst>
                <a:path h="2353310" w="103632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0210800" y="0"/>
                  </a:lnTo>
                  <a:cubicBezTo>
                    <a:pt x="10295001" y="0"/>
                    <a:pt x="10363200" y="68199"/>
                    <a:pt x="10363200" y="152400"/>
                  </a:cubicBezTo>
                  <a:lnTo>
                    <a:pt x="10363200" y="2200910"/>
                  </a:lnTo>
                  <a:cubicBezTo>
                    <a:pt x="10363200" y="2285111"/>
                    <a:pt x="10295001" y="2353310"/>
                    <a:pt x="10210800" y="2353310"/>
                  </a:cubicBezTo>
                  <a:lnTo>
                    <a:pt x="152400" y="2353310"/>
                  </a:lnTo>
                  <a:cubicBezTo>
                    <a:pt x="68199" y="2353310"/>
                    <a:pt x="0" y="2285111"/>
                    <a:pt x="0" y="220091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19200" y="2430780"/>
            <a:ext cx="7772400" cy="1764983"/>
            <a:chOff x="0" y="0"/>
            <a:chExt cx="10363200" cy="23533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363200" cy="152400"/>
            </a:xfrm>
            <a:custGeom>
              <a:avLst/>
              <a:gdLst/>
              <a:ahLst/>
              <a:cxnLst/>
              <a:rect r="r" b="b" t="t" l="l"/>
              <a:pathLst>
                <a:path h="152400" w="103632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0210800" y="0"/>
                  </a:lnTo>
                  <a:cubicBezTo>
                    <a:pt x="10295001" y="0"/>
                    <a:pt x="10363200" y="68199"/>
                    <a:pt x="10363200" y="152400"/>
                  </a:cubicBezTo>
                  <a:cubicBezTo>
                    <a:pt x="10363200" y="110363"/>
                    <a:pt x="10329037" y="76200"/>
                    <a:pt x="10287000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E8743B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00200" y="2846070"/>
            <a:ext cx="7220712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4202B"/>
                </a:solidFill>
                <a:latin typeface="Arial Bold"/>
                <a:ea typeface="Arial Bold"/>
                <a:cs typeface="Arial Bold"/>
                <a:sym typeface="Arial Bold"/>
              </a:rPr>
              <a:t>Algorithm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0200" y="3381375"/>
            <a:ext cx="7220712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Gradient Boosting Regressor (scikit-learn)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296400" y="2430780"/>
            <a:ext cx="7772400" cy="1764983"/>
            <a:chOff x="0" y="0"/>
            <a:chExt cx="10363200" cy="23533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363200" cy="2353310"/>
            </a:xfrm>
            <a:custGeom>
              <a:avLst/>
              <a:gdLst/>
              <a:ahLst/>
              <a:cxnLst/>
              <a:rect r="r" b="b" t="t" l="l"/>
              <a:pathLst>
                <a:path h="2353310" w="103632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0210800" y="0"/>
                  </a:lnTo>
                  <a:cubicBezTo>
                    <a:pt x="10295001" y="0"/>
                    <a:pt x="10363200" y="68199"/>
                    <a:pt x="10363200" y="152400"/>
                  </a:cubicBezTo>
                  <a:lnTo>
                    <a:pt x="10363200" y="2200910"/>
                  </a:lnTo>
                  <a:cubicBezTo>
                    <a:pt x="10363200" y="2285111"/>
                    <a:pt x="10295001" y="2353310"/>
                    <a:pt x="10210800" y="2353310"/>
                  </a:cubicBezTo>
                  <a:lnTo>
                    <a:pt x="152400" y="2353310"/>
                  </a:lnTo>
                  <a:cubicBezTo>
                    <a:pt x="68199" y="2353310"/>
                    <a:pt x="0" y="2285111"/>
                    <a:pt x="0" y="220091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296400" y="2430780"/>
            <a:ext cx="7772400" cy="1764983"/>
            <a:chOff x="0" y="0"/>
            <a:chExt cx="10363200" cy="23533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63200" cy="152400"/>
            </a:xfrm>
            <a:custGeom>
              <a:avLst/>
              <a:gdLst/>
              <a:ahLst/>
              <a:cxnLst/>
              <a:rect r="r" b="b" t="t" l="l"/>
              <a:pathLst>
                <a:path h="152400" w="103632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0210800" y="0"/>
                  </a:lnTo>
                  <a:cubicBezTo>
                    <a:pt x="10295001" y="0"/>
                    <a:pt x="10363200" y="68199"/>
                    <a:pt x="10363200" y="152400"/>
                  </a:cubicBezTo>
                  <a:cubicBezTo>
                    <a:pt x="10363200" y="110363"/>
                    <a:pt x="10329037" y="76200"/>
                    <a:pt x="10287000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2F7F96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677400" y="2846070"/>
            <a:ext cx="7220712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4202B"/>
                </a:solidFill>
                <a:latin typeface="Arial Bold"/>
                <a:ea typeface="Arial Bold"/>
                <a:cs typeface="Arial Bold"/>
                <a:sym typeface="Arial Bold"/>
              </a:rPr>
              <a:t>Why selected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77400" y="3381375"/>
            <a:ext cx="7391400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Handles non-linear feature interactions on tabular data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19200" y="4500562"/>
            <a:ext cx="7772400" cy="2150745"/>
            <a:chOff x="0" y="0"/>
            <a:chExt cx="10363200" cy="28676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363200" cy="2867660"/>
            </a:xfrm>
            <a:custGeom>
              <a:avLst/>
              <a:gdLst/>
              <a:ahLst/>
              <a:cxnLst/>
              <a:rect r="r" b="b" t="t" l="l"/>
              <a:pathLst>
                <a:path h="2867660" w="103632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0210800" y="0"/>
                  </a:lnTo>
                  <a:cubicBezTo>
                    <a:pt x="10295001" y="0"/>
                    <a:pt x="10363200" y="68199"/>
                    <a:pt x="10363200" y="152400"/>
                  </a:cubicBezTo>
                  <a:lnTo>
                    <a:pt x="10363200" y="2715260"/>
                  </a:lnTo>
                  <a:cubicBezTo>
                    <a:pt x="10363200" y="2799461"/>
                    <a:pt x="10295001" y="2867660"/>
                    <a:pt x="10210800" y="2867660"/>
                  </a:cubicBezTo>
                  <a:lnTo>
                    <a:pt x="152400" y="2867660"/>
                  </a:lnTo>
                  <a:cubicBezTo>
                    <a:pt x="68199" y="2867660"/>
                    <a:pt x="0" y="2799461"/>
                    <a:pt x="0" y="271526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19200" y="4500562"/>
            <a:ext cx="7772400" cy="2150745"/>
            <a:chOff x="0" y="0"/>
            <a:chExt cx="10363200" cy="28676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363200" cy="152400"/>
            </a:xfrm>
            <a:custGeom>
              <a:avLst/>
              <a:gdLst/>
              <a:ahLst/>
              <a:cxnLst/>
              <a:rect r="r" b="b" t="t" l="l"/>
              <a:pathLst>
                <a:path h="152400" w="103632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0210800" y="0"/>
                  </a:lnTo>
                  <a:cubicBezTo>
                    <a:pt x="10295001" y="0"/>
                    <a:pt x="10363200" y="68199"/>
                    <a:pt x="10363200" y="152400"/>
                  </a:cubicBezTo>
                  <a:cubicBezTo>
                    <a:pt x="10363200" y="110363"/>
                    <a:pt x="10329037" y="76200"/>
                    <a:pt x="10287000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E8743B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600200" y="4915862"/>
            <a:ext cx="7220712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4202B"/>
                </a:solidFill>
                <a:latin typeface="Arial Bold"/>
                <a:ea typeface="Arial Bold"/>
                <a:cs typeface="Arial Bold"/>
                <a:sym typeface="Arial Bold"/>
              </a:rPr>
              <a:t>Architecture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00200" y="5451157"/>
            <a:ext cx="7220712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Ensemble of sequential decision trees, each correcting earlier errors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296400" y="4500562"/>
            <a:ext cx="7772400" cy="2150745"/>
            <a:chOff x="0" y="0"/>
            <a:chExt cx="10363200" cy="28676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363200" cy="2867660"/>
            </a:xfrm>
            <a:custGeom>
              <a:avLst/>
              <a:gdLst/>
              <a:ahLst/>
              <a:cxnLst/>
              <a:rect r="r" b="b" t="t" l="l"/>
              <a:pathLst>
                <a:path h="2867660" w="103632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0210800" y="0"/>
                  </a:lnTo>
                  <a:cubicBezTo>
                    <a:pt x="10295001" y="0"/>
                    <a:pt x="10363200" y="68199"/>
                    <a:pt x="10363200" y="152400"/>
                  </a:cubicBezTo>
                  <a:lnTo>
                    <a:pt x="10363200" y="2715260"/>
                  </a:lnTo>
                  <a:cubicBezTo>
                    <a:pt x="10363200" y="2799461"/>
                    <a:pt x="10295001" y="2867660"/>
                    <a:pt x="10210800" y="2867660"/>
                  </a:cubicBezTo>
                  <a:lnTo>
                    <a:pt x="152400" y="2867660"/>
                  </a:lnTo>
                  <a:cubicBezTo>
                    <a:pt x="68199" y="2867660"/>
                    <a:pt x="0" y="2799461"/>
                    <a:pt x="0" y="271526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296400" y="4500562"/>
            <a:ext cx="7772400" cy="2150745"/>
            <a:chOff x="0" y="0"/>
            <a:chExt cx="10363200" cy="28676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363200" cy="152400"/>
            </a:xfrm>
            <a:custGeom>
              <a:avLst/>
              <a:gdLst/>
              <a:ahLst/>
              <a:cxnLst/>
              <a:rect r="r" b="b" t="t" l="l"/>
              <a:pathLst>
                <a:path h="152400" w="103632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0210800" y="0"/>
                  </a:lnTo>
                  <a:cubicBezTo>
                    <a:pt x="10295001" y="0"/>
                    <a:pt x="10363200" y="68199"/>
                    <a:pt x="10363200" y="152400"/>
                  </a:cubicBezTo>
                  <a:cubicBezTo>
                    <a:pt x="10363200" y="110363"/>
                    <a:pt x="10329037" y="76200"/>
                    <a:pt x="10287000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2F7F96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677400" y="4915862"/>
            <a:ext cx="7220712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4202B"/>
                </a:solidFill>
                <a:latin typeface="Arial Bold"/>
                <a:ea typeface="Arial Bold"/>
                <a:cs typeface="Arial Bold"/>
                <a:sym typeface="Arial Bold"/>
              </a:rPr>
              <a:t>Parameters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77400" y="5451157"/>
            <a:ext cx="7220712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[n_estimators, learning_rate, max_depth]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257300"/>
            <a:ext cx="16325088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>
                <a:solidFill>
                  <a:srgbClr val="14202B"/>
                </a:solidFill>
                <a:latin typeface="Georgia"/>
                <a:ea typeface="Georgia"/>
                <a:cs typeface="Georgia"/>
                <a:sym typeface="Georgia"/>
              </a:rPr>
              <a:t>Results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234440" y="2446022"/>
          <a:ext cx="15830550" cy="2457450"/>
        </p:xfrm>
        <a:graphic>
          <a:graphicData uri="http://schemas.openxmlformats.org/drawingml/2006/table">
            <a:tbl>
              <a:tblPr/>
              <a:tblGrid>
                <a:gridCol w="5276850"/>
                <a:gridCol w="5276850"/>
                <a:gridCol w="5276850"/>
              </a:tblGrid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E8743B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Metric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5B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5B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D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E8743B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Baseline (career avg only)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B5B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5B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5B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D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E8743B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Recent form + opponent/venue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B5B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5B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5B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DD5"/>
                    </a:solidFill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1420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MAE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5B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1420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15.52 runs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5B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1420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15.48 runs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5B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91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1420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RMSE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1420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20.71 runs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1420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20.67 runs</a:t>
                      </a:r>
                      <a:endParaRPr lang="en-US" sz="1100"/>
                    </a:p>
                  </a:txBody>
                  <a:tcPr marL="127000" marR="127000" marT="127000" marB="127000" anchor="t">
                    <a:lnL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3B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219200" y="5314950"/>
            <a:ext cx="16325088" cy="10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>
                <a:solidFill>
                  <a:srgbClr val="5B6670"/>
                </a:solidFill>
                <a:latin typeface="Arial"/>
                <a:ea typeface="Arial"/>
                <a:cs typeface="Arial"/>
                <a:sym typeface="Arial"/>
              </a:rPr>
              <a:t>Contextual features gave only a marginal gain, which points to high inherent variance in single-innings T20 batting.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257300"/>
            <a:ext cx="16325088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>
                <a:solidFill>
                  <a:srgbClr val="F4EFE6"/>
                </a:solidFill>
                <a:latin typeface="Georgia"/>
                <a:ea typeface="Georgia"/>
                <a:cs typeface="Georgia"/>
                <a:sym typeface="Georgia"/>
              </a:rPr>
              <a:t>Result Analysis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2430790"/>
            <a:ext cx="5079921" cy="2922270"/>
            <a:chOff x="0" y="0"/>
            <a:chExt cx="6773228" cy="3896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73291" cy="3896360"/>
            </a:xfrm>
            <a:custGeom>
              <a:avLst/>
              <a:gdLst/>
              <a:ahLst/>
              <a:cxnLst/>
              <a:rect r="r" b="b" t="t" l="l"/>
              <a:pathLst>
                <a:path h="3896360" w="6773291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0891" y="0"/>
                  </a:lnTo>
                  <a:cubicBezTo>
                    <a:pt x="6705092" y="0"/>
                    <a:pt x="6773291" y="68199"/>
                    <a:pt x="6773291" y="152400"/>
                  </a:cubicBezTo>
                  <a:lnTo>
                    <a:pt x="6773291" y="3743960"/>
                  </a:lnTo>
                  <a:cubicBezTo>
                    <a:pt x="6773291" y="3828161"/>
                    <a:pt x="6705092" y="3896360"/>
                    <a:pt x="6620891" y="3896360"/>
                  </a:cubicBezTo>
                  <a:lnTo>
                    <a:pt x="152400" y="3896360"/>
                  </a:lnTo>
                  <a:cubicBezTo>
                    <a:pt x="68199" y="3896360"/>
                    <a:pt x="0" y="3828161"/>
                    <a:pt x="0" y="374396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19200" y="2430790"/>
            <a:ext cx="5079921" cy="2922270"/>
            <a:chOff x="0" y="0"/>
            <a:chExt cx="6773228" cy="3896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73291" cy="152400"/>
            </a:xfrm>
            <a:custGeom>
              <a:avLst/>
              <a:gdLst/>
              <a:ahLst/>
              <a:cxnLst/>
              <a:rect r="r" b="b" t="t" l="l"/>
              <a:pathLst>
                <a:path h="152400" w="6773291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0891" y="0"/>
                  </a:lnTo>
                  <a:cubicBezTo>
                    <a:pt x="6705092" y="0"/>
                    <a:pt x="6773291" y="68199"/>
                    <a:pt x="6773291" y="152400"/>
                  </a:cubicBezTo>
                  <a:cubicBezTo>
                    <a:pt x="6773291" y="110363"/>
                    <a:pt x="6739128" y="76200"/>
                    <a:pt x="6697091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E8743B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00200" y="2846080"/>
            <a:ext cx="4447461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E8743B"/>
                </a:solidFill>
                <a:latin typeface="Arial Bold"/>
                <a:ea typeface="Arial Bold"/>
                <a:cs typeface="Arial Bold"/>
                <a:sym typeface="Arial Bold"/>
              </a:rPr>
              <a:t>70–80%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0200" y="3381375"/>
            <a:ext cx="4447461" cy="1243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relative importance of career_avg_runs, the dominant feature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603921" y="2430790"/>
            <a:ext cx="5080035" cy="2922270"/>
            <a:chOff x="0" y="0"/>
            <a:chExt cx="6773380" cy="3896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73418" cy="3896360"/>
            </a:xfrm>
            <a:custGeom>
              <a:avLst/>
              <a:gdLst/>
              <a:ahLst/>
              <a:cxnLst/>
              <a:rect r="r" b="b" t="t" l="l"/>
              <a:pathLst>
                <a:path h="389636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lnTo>
                    <a:pt x="6773418" y="3743960"/>
                  </a:lnTo>
                  <a:cubicBezTo>
                    <a:pt x="6773418" y="3828161"/>
                    <a:pt x="6705219" y="3896360"/>
                    <a:pt x="6621018" y="3896360"/>
                  </a:cubicBezTo>
                  <a:lnTo>
                    <a:pt x="152400" y="3896360"/>
                  </a:lnTo>
                  <a:cubicBezTo>
                    <a:pt x="68199" y="3896360"/>
                    <a:pt x="0" y="3828161"/>
                    <a:pt x="0" y="374396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603921" y="2430790"/>
            <a:ext cx="5080035" cy="2922270"/>
            <a:chOff x="0" y="0"/>
            <a:chExt cx="6773380" cy="38963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73418" cy="152400"/>
            </a:xfrm>
            <a:custGeom>
              <a:avLst/>
              <a:gdLst/>
              <a:ahLst/>
              <a:cxnLst/>
              <a:rect r="r" b="b" t="t" l="l"/>
              <a:pathLst>
                <a:path h="15240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cubicBezTo>
                    <a:pt x="6773418" y="110363"/>
                    <a:pt x="6739255" y="76200"/>
                    <a:pt x="6697218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2F7F96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984921" y="2846080"/>
            <a:ext cx="4447584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E8743B"/>
                </a:solidFill>
                <a:latin typeface="Arial Bold"/>
                <a:ea typeface="Arial Bold"/>
                <a:cs typeface="Arial Bold"/>
                <a:sym typeface="Arial Bold"/>
              </a:rPr>
              <a:t>0.04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84921" y="3381375"/>
            <a:ext cx="444758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MAE improvement over the baseline, in runs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988765" y="2430790"/>
            <a:ext cx="5080035" cy="2922270"/>
            <a:chOff x="0" y="0"/>
            <a:chExt cx="6773380" cy="3896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73418" cy="3896360"/>
            </a:xfrm>
            <a:custGeom>
              <a:avLst/>
              <a:gdLst/>
              <a:ahLst/>
              <a:cxnLst/>
              <a:rect r="r" b="b" t="t" l="l"/>
              <a:pathLst>
                <a:path h="389636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lnTo>
                    <a:pt x="6773418" y="3743960"/>
                  </a:lnTo>
                  <a:cubicBezTo>
                    <a:pt x="6773418" y="3828161"/>
                    <a:pt x="6705219" y="3896360"/>
                    <a:pt x="6621018" y="3896360"/>
                  </a:cubicBezTo>
                  <a:lnTo>
                    <a:pt x="152400" y="3896360"/>
                  </a:lnTo>
                  <a:cubicBezTo>
                    <a:pt x="68199" y="3896360"/>
                    <a:pt x="0" y="3828161"/>
                    <a:pt x="0" y="374396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988765" y="2430790"/>
            <a:ext cx="5080035" cy="2922270"/>
            <a:chOff x="0" y="0"/>
            <a:chExt cx="6773380" cy="3896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73418" cy="152400"/>
            </a:xfrm>
            <a:custGeom>
              <a:avLst/>
              <a:gdLst/>
              <a:ahLst/>
              <a:cxnLst/>
              <a:rect r="r" b="b" t="t" l="l"/>
              <a:pathLst>
                <a:path h="15240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cubicBezTo>
                    <a:pt x="6773418" y="110363"/>
                    <a:pt x="6739255" y="76200"/>
                    <a:pt x="6697218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E8743B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369765" y="2846080"/>
            <a:ext cx="4447584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E8743B"/>
                </a:solidFill>
                <a:latin typeface="Arial Bold"/>
                <a:ea typeface="Arial Bold"/>
                <a:cs typeface="Arial Bold"/>
                <a:sym typeface="Arial Bold"/>
              </a:rPr>
              <a:t>N/A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69765" y="3381375"/>
            <a:ext cx="4447584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Accuracy, precision, recall and F1 apply to classification; this is a regression task, so MAE and RMSE are used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257300"/>
            <a:ext cx="16325088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>
                <a:solidFill>
                  <a:srgbClr val="14202B"/>
                </a:solidFill>
                <a:latin typeface="Georgia"/>
                <a:ea typeface="Georgia"/>
                <a:cs typeface="Georgia"/>
                <a:sym typeface="Georgia"/>
              </a:rPr>
              <a:t>Screenshots / Demo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2430790"/>
            <a:ext cx="3733800" cy="2536508"/>
            <a:chOff x="0" y="0"/>
            <a:chExt cx="4978400" cy="33820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78400" cy="3382010"/>
            </a:xfrm>
            <a:custGeom>
              <a:avLst/>
              <a:gdLst/>
              <a:ahLst/>
              <a:cxnLst/>
              <a:rect r="r" b="b" t="t" l="l"/>
              <a:pathLst>
                <a:path h="3382010" w="49784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826000" y="0"/>
                  </a:lnTo>
                  <a:cubicBezTo>
                    <a:pt x="4910201" y="0"/>
                    <a:pt x="4978400" y="68199"/>
                    <a:pt x="4978400" y="152400"/>
                  </a:cubicBezTo>
                  <a:lnTo>
                    <a:pt x="4978400" y="3229610"/>
                  </a:lnTo>
                  <a:cubicBezTo>
                    <a:pt x="4978400" y="3313811"/>
                    <a:pt x="4910201" y="3382010"/>
                    <a:pt x="4826000" y="3382010"/>
                  </a:cubicBezTo>
                  <a:lnTo>
                    <a:pt x="152400" y="3382010"/>
                  </a:lnTo>
                  <a:cubicBezTo>
                    <a:pt x="68199" y="3382010"/>
                    <a:pt x="0" y="3313811"/>
                    <a:pt x="0" y="322961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19200" y="2430790"/>
            <a:ext cx="3733800" cy="2536508"/>
            <a:chOff x="0" y="0"/>
            <a:chExt cx="4978400" cy="33820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78400" cy="152400"/>
            </a:xfrm>
            <a:custGeom>
              <a:avLst/>
              <a:gdLst/>
              <a:ahLst/>
              <a:cxnLst/>
              <a:rect r="r" b="b" t="t" l="l"/>
              <a:pathLst>
                <a:path h="152400" w="49784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826000" y="0"/>
                  </a:lnTo>
                  <a:cubicBezTo>
                    <a:pt x="4910201" y="0"/>
                    <a:pt x="4978400" y="68199"/>
                    <a:pt x="4978400" y="152400"/>
                  </a:cubicBezTo>
                  <a:cubicBezTo>
                    <a:pt x="4978400" y="110363"/>
                    <a:pt x="4944237" y="76200"/>
                    <a:pt x="4902200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E8743B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00200" y="2846080"/>
            <a:ext cx="3060954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4202B"/>
                </a:solidFill>
                <a:latin typeface="Arial Bold"/>
                <a:ea typeface="Arial Bold"/>
                <a:cs typeface="Arial Bold"/>
                <a:sym typeface="Arial Bold"/>
              </a:rPr>
              <a:t>Home page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0200" y="3381375"/>
            <a:ext cx="3060954" cy="1243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[insert screenshot] Matchday-themed landing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257800" y="2430790"/>
            <a:ext cx="3733800" cy="2536508"/>
            <a:chOff x="0" y="0"/>
            <a:chExt cx="4978400" cy="33820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978400" cy="3382010"/>
            </a:xfrm>
            <a:custGeom>
              <a:avLst/>
              <a:gdLst/>
              <a:ahLst/>
              <a:cxnLst/>
              <a:rect r="r" b="b" t="t" l="l"/>
              <a:pathLst>
                <a:path h="3382010" w="49784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826000" y="0"/>
                  </a:lnTo>
                  <a:cubicBezTo>
                    <a:pt x="4910201" y="0"/>
                    <a:pt x="4978400" y="68199"/>
                    <a:pt x="4978400" y="152400"/>
                  </a:cubicBezTo>
                  <a:lnTo>
                    <a:pt x="4978400" y="3229610"/>
                  </a:lnTo>
                  <a:cubicBezTo>
                    <a:pt x="4978400" y="3313811"/>
                    <a:pt x="4910201" y="3382010"/>
                    <a:pt x="4826000" y="3382010"/>
                  </a:cubicBezTo>
                  <a:lnTo>
                    <a:pt x="152400" y="3382010"/>
                  </a:lnTo>
                  <a:cubicBezTo>
                    <a:pt x="68199" y="3382010"/>
                    <a:pt x="0" y="3313811"/>
                    <a:pt x="0" y="322961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257800" y="2430790"/>
            <a:ext cx="3733800" cy="2536508"/>
            <a:chOff x="0" y="0"/>
            <a:chExt cx="4978400" cy="33820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78400" cy="152400"/>
            </a:xfrm>
            <a:custGeom>
              <a:avLst/>
              <a:gdLst/>
              <a:ahLst/>
              <a:cxnLst/>
              <a:rect r="r" b="b" t="t" l="l"/>
              <a:pathLst>
                <a:path h="152400" w="49784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826000" y="0"/>
                  </a:lnTo>
                  <a:cubicBezTo>
                    <a:pt x="4910201" y="0"/>
                    <a:pt x="4978400" y="68199"/>
                    <a:pt x="4978400" y="152400"/>
                  </a:cubicBezTo>
                  <a:cubicBezTo>
                    <a:pt x="4978400" y="110363"/>
                    <a:pt x="4944237" y="76200"/>
                    <a:pt x="4902200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2F7F96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638800" y="2846080"/>
            <a:ext cx="3060954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4202B"/>
                </a:solidFill>
                <a:latin typeface="Arial Bold"/>
                <a:ea typeface="Arial Bold"/>
                <a:cs typeface="Arial Bold"/>
                <a:sym typeface="Arial Bold"/>
              </a:rPr>
              <a:t>Input screen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38800" y="3381375"/>
            <a:ext cx="3060954" cy="1243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[insert screenshot] Player selector with live stat preview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96400" y="2430790"/>
            <a:ext cx="3733800" cy="2536508"/>
            <a:chOff x="0" y="0"/>
            <a:chExt cx="4978400" cy="33820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78400" cy="3382010"/>
            </a:xfrm>
            <a:custGeom>
              <a:avLst/>
              <a:gdLst/>
              <a:ahLst/>
              <a:cxnLst/>
              <a:rect r="r" b="b" t="t" l="l"/>
              <a:pathLst>
                <a:path h="3382010" w="49784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826000" y="0"/>
                  </a:lnTo>
                  <a:cubicBezTo>
                    <a:pt x="4910201" y="0"/>
                    <a:pt x="4978400" y="68199"/>
                    <a:pt x="4978400" y="152400"/>
                  </a:cubicBezTo>
                  <a:lnTo>
                    <a:pt x="4978400" y="3229610"/>
                  </a:lnTo>
                  <a:cubicBezTo>
                    <a:pt x="4978400" y="3313811"/>
                    <a:pt x="4910201" y="3382010"/>
                    <a:pt x="4826000" y="3382010"/>
                  </a:cubicBezTo>
                  <a:lnTo>
                    <a:pt x="152400" y="3382010"/>
                  </a:lnTo>
                  <a:cubicBezTo>
                    <a:pt x="68199" y="3382010"/>
                    <a:pt x="0" y="3313811"/>
                    <a:pt x="0" y="322961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296400" y="2430790"/>
            <a:ext cx="3733800" cy="2536508"/>
            <a:chOff x="0" y="0"/>
            <a:chExt cx="4978400" cy="33820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78400" cy="152400"/>
            </a:xfrm>
            <a:custGeom>
              <a:avLst/>
              <a:gdLst/>
              <a:ahLst/>
              <a:cxnLst/>
              <a:rect r="r" b="b" t="t" l="l"/>
              <a:pathLst>
                <a:path h="152400" w="49784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826000" y="0"/>
                  </a:lnTo>
                  <a:cubicBezTo>
                    <a:pt x="4910201" y="0"/>
                    <a:pt x="4978400" y="68199"/>
                    <a:pt x="4978400" y="152400"/>
                  </a:cubicBezTo>
                  <a:cubicBezTo>
                    <a:pt x="4978400" y="110363"/>
                    <a:pt x="4944237" y="76200"/>
                    <a:pt x="4902200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E8743B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677400" y="2846080"/>
            <a:ext cx="3060954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4202B"/>
                </a:solidFill>
                <a:latin typeface="Arial Bold"/>
                <a:ea typeface="Arial Bold"/>
                <a:cs typeface="Arial Bold"/>
                <a:sym typeface="Arial Bold"/>
              </a:rPr>
              <a:t>Processing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77400" y="3381375"/>
            <a:ext cx="3060954" cy="1243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[insert screenshot] Model computing prediction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3335000" y="2430790"/>
            <a:ext cx="3733800" cy="2536508"/>
            <a:chOff x="0" y="0"/>
            <a:chExt cx="4978400" cy="33820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978400" cy="3382010"/>
            </a:xfrm>
            <a:custGeom>
              <a:avLst/>
              <a:gdLst/>
              <a:ahLst/>
              <a:cxnLst/>
              <a:rect r="r" b="b" t="t" l="l"/>
              <a:pathLst>
                <a:path h="3382010" w="49784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826000" y="0"/>
                  </a:lnTo>
                  <a:cubicBezTo>
                    <a:pt x="4910201" y="0"/>
                    <a:pt x="4978400" y="68199"/>
                    <a:pt x="4978400" y="152400"/>
                  </a:cubicBezTo>
                  <a:lnTo>
                    <a:pt x="4978400" y="3229610"/>
                  </a:lnTo>
                  <a:cubicBezTo>
                    <a:pt x="4978400" y="3313811"/>
                    <a:pt x="4910201" y="3382010"/>
                    <a:pt x="4826000" y="3382010"/>
                  </a:cubicBezTo>
                  <a:lnTo>
                    <a:pt x="152400" y="3382010"/>
                  </a:lnTo>
                  <a:cubicBezTo>
                    <a:pt x="68199" y="3382010"/>
                    <a:pt x="0" y="3313811"/>
                    <a:pt x="0" y="322961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335000" y="2430790"/>
            <a:ext cx="3733800" cy="2536508"/>
            <a:chOff x="0" y="0"/>
            <a:chExt cx="4978400" cy="338201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78400" cy="152400"/>
            </a:xfrm>
            <a:custGeom>
              <a:avLst/>
              <a:gdLst/>
              <a:ahLst/>
              <a:cxnLst/>
              <a:rect r="r" b="b" t="t" l="l"/>
              <a:pathLst>
                <a:path h="152400" w="49784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826000" y="0"/>
                  </a:lnTo>
                  <a:cubicBezTo>
                    <a:pt x="4910201" y="0"/>
                    <a:pt x="4978400" y="68199"/>
                    <a:pt x="4978400" y="152400"/>
                  </a:cubicBezTo>
                  <a:cubicBezTo>
                    <a:pt x="4978400" y="110363"/>
                    <a:pt x="4944237" y="76200"/>
                    <a:pt x="4902200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2F7F96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3716000" y="2846080"/>
            <a:ext cx="3060954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4202B"/>
                </a:solidFill>
                <a:latin typeface="Arial Bold"/>
                <a:ea typeface="Arial Bold"/>
                <a:cs typeface="Arial Bold"/>
                <a:sym typeface="Arial Bold"/>
              </a:rPr>
              <a:t>Output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16000" y="3381375"/>
            <a:ext cx="3060954" cy="1243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[insert screenshot] Animated scoreboard-style reveal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257300"/>
            <a:ext cx="16325088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>
                <a:solidFill>
                  <a:srgbClr val="14202B"/>
                </a:solidFill>
                <a:latin typeface="Georgia"/>
                <a:ea typeface="Georgia"/>
                <a:cs typeface="Georgia"/>
                <a:sym typeface="Georgia"/>
              </a:rPr>
              <a:t>Advantages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03401" y="2335540"/>
            <a:ext cx="16229457" cy="219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14202B"/>
                </a:solidFill>
                <a:latin typeface="Arial"/>
                <a:ea typeface="Arial"/>
                <a:cs typeface="Arial"/>
                <a:sym typeface="Arial"/>
              </a:rPr>
              <a:t>Leakage-safe features give an honest, realistic evaluation</a:t>
            </a:r>
          </a:p>
          <a:p>
            <a:pPr algn="l" marL="488632" indent="-244316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14202B"/>
                </a:solidFill>
                <a:latin typeface="Arial"/>
                <a:ea typeface="Arial"/>
                <a:cs typeface="Arial"/>
                <a:sym typeface="Arial"/>
              </a:rPr>
              <a:t>Chronological split mirrors real forecasting</a:t>
            </a:r>
          </a:p>
          <a:p>
            <a:pPr algn="l" marL="488632" indent="-244316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14202B"/>
                </a:solidFill>
                <a:latin typeface="Arial"/>
                <a:ea typeface="Arial"/>
                <a:cs typeface="Arial"/>
                <a:sym typeface="Arial"/>
              </a:rPr>
              <a:t>Interactive web interface and CLI</a:t>
            </a:r>
          </a:p>
          <a:p>
            <a:pPr algn="l" marL="488632" indent="-244316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14202B"/>
                </a:solidFill>
                <a:latin typeface="Arial"/>
                <a:ea typeface="Arial"/>
                <a:cs typeface="Arial"/>
                <a:sym typeface="Arial"/>
              </a:rPr>
              <a:t>Adds recent form and opponent/venue context beyond career averages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257300"/>
            <a:ext cx="16325088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>
                <a:solidFill>
                  <a:srgbClr val="F4EFE6"/>
                </a:solidFill>
                <a:latin typeface="Georgia"/>
                <a:ea typeface="Georgia"/>
                <a:cs typeface="Georgia"/>
                <a:sym typeface="Georgia"/>
              </a:rPr>
              <a:t>Applications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2430790"/>
            <a:ext cx="5079921" cy="2150745"/>
            <a:chOff x="0" y="0"/>
            <a:chExt cx="6773228" cy="2867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73291" cy="2867660"/>
            </a:xfrm>
            <a:custGeom>
              <a:avLst/>
              <a:gdLst/>
              <a:ahLst/>
              <a:cxnLst/>
              <a:rect r="r" b="b" t="t" l="l"/>
              <a:pathLst>
                <a:path h="2867660" w="6773291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0891" y="0"/>
                  </a:lnTo>
                  <a:cubicBezTo>
                    <a:pt x="6705092" y="0"/>
                    <a:pt x="6773291" y="68199"/>
                    <a:pt x="6773291" y="152400"/>
                  </a:cubicBezTo>
                  <a:lnTo>
                    <a:pt x="6773291" y="2715260"/>
                  </a:lnTo>
                  <a:cubicBezTo>
                    <a:pt x="6773291" y="2799461"/>
                    <a:pt x="6705092" y="2867660"/>
                    <a:pt x="6620891" y="2867660"/>
                  </a:cubicBezTo>
                  <a:lnTo>
                    <a:pt x="152400" y="2867660"/>
                  </a:lnTo>
                  <a:cubicBezTo>
                    <a:pt x="68199" y="2867660"/>
                    <a:pt x="0" y="2799461"/>
                    <a:pt x="0" y="271526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19200" y="2430790"/>
            <a:ext cx="5079921" cy="2150745"/>
            <a:chOff x="0" y="0"/>
            <a:chExt cx="6773228" cy="28676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73291" cy="152400"/>
            </a:xfrm>
            <a:custGeom>
              <a:avLst/>
              <a:gdLst/>
              <a:ahLst/>
              <a:cxnLst/>
              <a:rect r="r" b="b" t="t" l="l"/>
              <a:pathLst>
                <a:path h="152400" w="6773291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0891" y="0"/>
                  </a:lnTo>
                  <a:cubicBezTo>
                    <a:pt x="6705092" y="0"/>
                    <a:pt x="6773291" y="68199"/>
                    <a:pt x="6773291" y="152400"/>
                  </a:cubicBezTo>
                  <a:cubicBezTo>
                    <a:pt x="6773291" y="110363"/>
                    <a:pt x="6739128" y="76200"/>
                    <a:pt x="6697091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E8743B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00200" y="2846080"/>
            <a:ext cx="4447461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E8743B"/>
                </a:solidFill>
                <a:latin typeface="Arial Bold"/>
                <a:ea typeface="Arial Bold"/>
                <a:cs typeface="Arial Bold"/>
                <a:sym typeface="Arial Bold"/>
              </a:rPr>
              <a:t>Real-world uses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0200" y="3381375"/>
            <a:ext cx="4447461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Fantasy cricket, match previews, player scouting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603921" y="2430790"/>
            <a:ext cx="5080035" cy="2150745"/>
            <a:chOff x="0" y="0"/>
            <a:chExt cx="6773380" cy="28676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73418" cy="2867660"/>
            </a:xfrm>
            <a:custGeom>
              <a:avLst/>
              <a:gdLst/>
              <a:ahLst/>
              <a:cxnLst/>
              <a:rect r="r" b="b" t="t" l="l"/>
              <a:pathLst>
                <a:path h="286766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lnTo>
                    <a:pt x="6773418" y="2715260"/>
                  </a:lnTo>
                  <a:cubicBezTo>
                    <a:pt x="6773418" y="2799461"/>
                    <a:pt x="6705219" y="2867660"/>
                    <a:pt x="6621018" y="2867660"/>
                  </a:cubicBezTo>
                  <a:lnTo>
                    <a:pt x="152400" y="2867660"/>
                  </a:lnTo>
                  <a:cubicBezTo>
                    <a:pt x="68199" y="2867660"/>
                    <a:pt x="0" y="2799461"/>
                    <a:pt x="0" y="271526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603921" y="2430790"/>
            <a:ext cx="5080035" cy="2150745"/>
            <a:chOff x="0" y="0"/>
            <a:chExt cx="6773380" cy="28676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73418" cy="152400"/>
            </a:xfrm>
            <a:custGeom>
              <a:avLst/>
              <a:gdLst/>
              <a:ahLst/>
              <a:cxnLst/>
              <a:rect r="r" b="b" t="t" l="l"/>
              <a:pathLst>
                <a:path h="15240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cubicBezTo>
                    <a:pt x="6773418" y="110363"/>
                    <a:pt x="6739255" y="76200"/>
                    <a:pt x="6697218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2F7F96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984921" y="2846080"/>
            <a:ext cx="4447584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E8743B"/>
                </a:solidFill>
                <a:latin typeface="Arial Bold"/>
                <a:ea typeface="Arial Bold"/>
                <a:cs typeface="Arial Bold"/>
                <a:sym typeface="Arial Bold"/>
              </a:rPr>
              <a:t>Target users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84921" y="3381375"/>
            <a:ext cx="444758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Analysts, coaches, broadcasters, fans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988765" y="2430790"/>
            <a:ext cx="5080035" cy="2150745"/>
            <a:chOff x="0" y="0"/>
            <a:chExt cx="6773380" cy="28676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73418" cy="2867660"/>
            </a:xfrm>
            <a:custGeom>
              <a:avLst/>
              <a:gdLst/>
              <a:ahLst/>
              <a:cxnLst/>
              <a:rect r="r" b="b" t="t" l="l"/>
              <a:pathLst>
                <a:path h="286766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lnTo>
                    <a:pt x="6773418" y="2715260"/>
                  </a:lnTo>
                  <a:cubicBezTo>
                    <a:pt x="6773418" y="2799461"/>
                    <a:pt x="6705219" y="2867660"/>
                    <a:pt x="6621018" y="2867660"/>
                  </a:cubicBezTo>
                  <a:lnTo>
                    <a:pt x="152400" y="2867660"/>
                  </a:lnTo>
                  <a:cubicBezTo>
                    <a:pt x="68199" y="2867660"/>
                    <a:pt x="0" y="2799461"/>
                    <a:pt x="0" y="271526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988765" y="2430790"/>
            <a:ext cx="5080035" cy="2150745"/>
            <a:chOff x="0" y="0"/>
            <a:chExt cx="6773380" cy="28676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73418" cy="152400"/>
            </a:xfrm>
            <a:custGeom>
              <a:avLst/>
              <a:gdLst/>
              <a:ahLst/>
              <a:cxnLst/>
              <a:rect r="r" b="b" t="t" l="l"/>
              <a:pathLst>
                <a:path h="15240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cubicBezTo>
                    <a:pt x="6773418" y="110363"/>
                    <a:pt x="6739255" y="76200"/>
                    <a:pt x="6697218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E8743B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369765" y="2846080"/>
            <a:ext cx="4447584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E8743B"/>
                </a:solidFill>
                <a:latin typeface="Arial Bold"/>
                <a:ea typeface="Arial Bold"/>
                <a:cs typeface="Arial Bold"/>
                <a:sym typeface="Arial Bold"/>
              </a:rPr>
              <a:t>Industries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69765" y="3381375"/>
            <a:ext cx="444758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Sports analytics, media, fantasy gaming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257300"/>
            <a:ext cx="16325088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>
                <a:solidFill>
                  <a:srgbClr val="14202B"/>
                </a:solidFill>
                <a:latin typeface="Georgia"/>
                <a:ea typeface="Georgia"/>
                <a:cs typeface="Georgia"/>
                <a:sym typeface="Georgia"/>
              </a:rPr>
              <a:t>Limitations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2430790"/>
            <a:ext cx="5079921" cy="2536508"/>
            <a:chOff x="0" y="0"/>
            <a:chExt cx="6773228" cy="33820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73291" cy="3382010"/>
            </a:xfrm>
            <a:custGeom>
              <a:avLst/>
              <a:gdLst/>
              <a:ahLst/>
              <a:cxnLst/>
              <a:rect r="r" b="b" t="t" l="l"/>
              <a:pathLst>
                <a:path h="3382010" w="6773291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0891" y="0"/>
                  </a:lnTo>
                  <a:cubicBezTo>
                    <a:pt x="6705092" y="0"/>
                    <a:pt x="6773291" y="68199"/>
                    <a:pt x="6773291" y="152400"/>
                  </a:cubicBezTo>
                  <a:lnTo>
                    <a:pt x="6773291" y="3229610"/>
                  </a:lnTo>
                  <a:cubicBezTo>
                    <a:pt x="6773291" y="3313811"/>
                    <a:pt x="6705092" y="3382010"/>
                    <a:pt x="6620891" y="3382010"/>
                  </a:cubicBezTo>
                  <a:lnTo>
                    <a:pt x="152400" y="3382010"/>
                  </a:lnTo>
                  <a:cubicBezTo>
                    <a:pt x="68199" y="3382010"/>
                    <a:pt x="0" y="3313811"/>
                    <a:pt x="0" y="322961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19200" y="2430790"/>
            <a:ext cx="5079921" cy="2536508"/>
            <a:chOff x="0" y="0"/>
            <a:chExt cx="6773228" cy="33820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73291" cy="152400"/>
            </a:xfrm>
            <a:custGeom>
              <a:avLst/>
              <a:gdLst/>
              <a:ahLst/>
              <a:cxnLst/>
              <a:rect r="r" b="b" t="t" l="l"/>
              <a:pathLst>
                <a:path h="152400" w="6773291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0891" y="0"/>
                  </a:lnTo>
                  <a:cubicBezTo>
                    <a:pt x="6705092" y="0"/>
                    <a:pt x="6773291" y="68199"/>
                    <a:pt x="6773291" y="152400"/>
                  </a:cubicBezTo>
                  <a:cubicBezTo>
                    <a:pt x="6773291" y="110363"/>
                    <a:pt x="6739128" y="76200"/>
                    <a:pt x="6697091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E8743B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00200" y="2846080"/>
            <a:ext cx="4447461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4202B"/>
                </a:solidFill>
                <a:latin typeface="Arial Bold"/>
                <a:ea typeface="Arial Bold"/>
                <a:cs typeface="Arial Bold"/>
                <a:sym typeface="Arial Bold"/>
              </a:rPr>
              <a:t>Current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0200" y="3381375"/>
            <a:ext cx="4447461" cy="1243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Only marginal gain over the baseline; predicts batting runs only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603921" y="2430790"/>
            <a:ext cx="5080035" cy="2536508"/>
            <a:chOff x="0" y="0"/>
            <a:chExt cx="6773380" cy="33820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73418" cy="3382010"/>
            </a:xfrm>
            <a:custGeom>
              <a:avLst/>
              <a:gdLst/>
              <a:ahLst/>
              <a:cxnLst/>
              <a:rect r="r" b="b" t="t" l="l"/>
              <a:pathLst>
                <a:path h="338201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lnTo>
                    <a:pt x="6773418" y="3229610"/>
                  </a:lnTo>
                  <a:cubicBezTo>
                    <a:pt x="6773418" y="3313811"/>
                    <a:pt x="6705219" y="3382010"/>
                    <a:pt x="6621018" y="3382010"/>
                  </a:cubicBezTo>
                  <a:lnTo>
                    <a:pt x="152400" y="3382010"/>
                  </a:lnTo>
                  <a:cubicBezTo>
                    <a:pt x="68199" y="3382010"/>
                    <a:pt x="0" y="3313811"/>
                    <a:pt x="0" y="322961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603921" y="2430790"/>
            <a:ext cx="5080035" cy="2536508"/>
            <a:chOff x="0" y="0"/>
            <a:chExt cx="6773380" cy="33820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73418" cy="152400"/>
            </a:xfrm>
            <a:custGeom>
              <a:avLst/>
              <a:gdLst/>
              <a:ahLst/>
              <a:cxnLst/>
              <a:rect r="r" b="b" t="t" l="l"/>
              <a:pathLst>
                <a:path h="15240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cubicBezTo>
                    <a:pt x="6773418" y="110363"/>
                    <a:pt x="6739255" y="76200"/>
                    <a:pt x="6697218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2F7F96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984921" y="2846080"/>
            <a:ext cx="4447584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4202B"/>
                </a:solidFill>
                <a:latin typeface="Arial Bold"/>
                <a:ea typeface="Arial Bold"/>
                <a:cs typeface="Arial Bold"/>
                <a:sym typeface="Arial Bold"/>
              </a:rPr>
              <a:t>Data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84921" y="3381375"/>
            <a:ext cx="444758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Covers IPL 2008–2023; single-innings variance is high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988765" y="2430790"/>
            <a:ext cx="5080035" cy="2536508"/>
            <a:chOff x="0" y="0"/>
            <a:chExt cx="6773380" cy="33820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73418" cy="3382010"/>
            </a:xfrm>
            <a:custGeom>
              <a:avLst/>
              <a:gdLst/>
              <a:ahLst/>
              <a:cxnLst/>
              <a:rect r="r" b="b" t="t" l="l"/>
              <a:pathLst>
                <a:path h="338201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lnTo>
                    <a:pt x="6773418" y="3229610"/>
                  </a:lnTo>
                  <a:cubicBezTo>
                    <a:pt x="6773418" y="3313811"/>
                    <a:pt x="6705219" y="3382010"/>
                    <a:pt x="6621018" y="3382010"/>
                  </a:cubicBezTo>
                  <a:lnTo>
                    <a:pt x="152400" y="3382010"/>
                  </a:lnTo>
                  <a:cubicBezTo>
                    <a:pt x="68199" y="3382010"/>
                    <a:pt x="0" y="3313811"/>
                    <a:pt x="0" y="322961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988765" y="2430790"/>
            <a:ext cx="5080035" cy="2536508"/>
            <a:chOff x="0" y="0"/>
            <a:chExt cx="6773380" cy="33820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73418" cy="152400"/>
            </a:xfrm>
            <a:custGeom>
              <a:avLst/>
              <a:gdLst/>
              <a:ahLst/>
              <a:cxnLst/>
              <a:rect r="r" b="b" t="t" l="l"/>
              <a:pathLst>
                <a:path h="15240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cubicBezTo>
                    <a:pt x="6773418" y="110363"/>
                    <a:pt x="6739255" y="76200"/>
                    <a:pt x="6697218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E8743B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369765" y="2846080"/>
            <a:ext cx="4447584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4202B"/>
                </a:solidFill>
                <a:latin typeface="Arial Bold"/>
                <a:ea typeface="Arial Bold"/>
                <a:cs typeface="Arial Bold"/>
                <a:sym typeface="Arial Bold"/>
              </a:rPr>
              <a:t>Technical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69765" y="3381375"/>
            <a:ext cx="444758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Runs locally; no bowler-vs-batter or match-situation context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257300"/>
            <a:ext cx="16325088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>
                <a:solidFill>
                  <a:srgbClr val="14202B"/>
                </a:solidFill>
                <a:latin typeface="Georgia"/>
                <a:ea typeface="Georgia"/>
                <a:cs typeface="Georgia"/>
                <a:sym typeface="Georgia"/>
              </a:rPr>
              <a:t>Future Scope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03401" y="2335540"/>
            <a:ext cx="16229457" cy="219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14202B"/>
                </a:solidFill>
                <a:latin typeface="Arial"/>
                <a:ea typeface="Arial"/>
                <a:cs typeface="Arial"/>
                <a:sym typeface="Arial"/>
              </a:rPr>
              <a:t>Predict over a rolling next-3-match window, or classify above/below average</a:t>
            </a:r>
          </a:p>
          <a:p>
            <a:pPr algn="l" marL="488632" indent="-244316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14202B"/>
                </a:solidFill>
                <a:latin typeface="Arial"/>
                <a:ea typeface="Arial"/>
                <a:cs typeface="Arial"/>
                <a:sym typeface="Arial"/>
              </a:rPr>
              <a:t>Add bowler-vs-batter matchup history</a:t>
            </a:r>
          </a:p>
          <a:p>
            <a:pPr algn="l" marL="488632" indent="-244316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14202B"/>
                </a:solidFill>
                <a:latin typeface="Arial"/>
                <a:ea typeface="Arial"/>
                <a:cs typeface="Arial"/>
                <a:sym typeface="Arial"/>
              </a:rPr>
              <a:t>Add powerplay/death-overs role and batting position</a:t>
            </a:r>
          </a:p>
          <a:p>
            <a:pPr algn="l" marL="488632" indent="-244316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14202B"/>
                </a:solidFill>
                <a:latin typeface="Arial"/>
                <a:ea typeface="Arial"/>
                <a:cs typeface="Arial"/>
                <a:sym typeface="Arial"/>
              </a:rPr>
              <a:t>Extend to bowling performance; deploy online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257300"/>
            <a:ext cx="16325088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>
                <a:solidFill>
                  <a:srgbClr val="F4EFE6"/>
                </a:solidFill>
                <a:latin typeface="Georgia"/>
                <a:ea typeface="Georgia"/>
                <a:cs typeface="Georgia"/>
                <a:sym typeface="Georgia"/>
              </a:rPr>
              <a:t>Conclusion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2430790"/>
            <a:ext cx="5079921" cy="2536508"/>
            <a:chOff x="0" y="0"/>
            <a:chExt cx="6773228" cy="33820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73291" cy="3382010"/>
            </a:xfrm>
            <a:custGeom>
              <a:avLst/>
              <a:gdLst/>
              <a:ahLst/>
              <a:cxnLst/>
              <a:rect r="r" b="b" t="t" l="l"/>
              <a:pathLst>
                <a:path h="3382010" w="6773291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0891" y="0"/>
                  </a:lnTo>
                  <a:cubicBezTo>
                    <a:pt x="6705092" y="0"/>
                    <a:pt x="6773291" y="68199"/>
                    <a:pt x="6773291" y="152400"/>
                  </a:cubicBezTo>
                  <a:lnTo>
                    <a:pt x="6773291" y="3229610"/>
                  </a:lnTo>
                  <a:cubicBezTo>
                    <a:pt x="6773291" y="3313811"/>
                    <a:pt x="6705092" y="3382010"/>
                    <a:pt x="6620891" y="3382010"/>
                  </a:cubicBezTo>
                  <a:lnTo>
                    <a:pt x="152400" y="3382010"/>
                  </a:lnTo>
                  <a:cubicBezTo>
                    <a:pt x="68199" y="3382010"/>
                    <a:pt x="0" y="3313811"/>
                    <a:pt x="0" y="322961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19200" y="2430790"/>
            <a:ext cx="5079921" cy="2536508"/>
            <a:chOff x="0" y="0"/>
            <a:chExt cx="6773228" cy="33820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73291" cy="152400"/>
            </a:xfrm>
            <a:custGeom>
              <a:avLst/>
              <a:gdLst/>
              <a:ahLst/>
              <a:cxnLst/>
              <a:rect r="r" b="b" t="t" l="l"/>
              <a:pathLst>
                <a:path h="152400" w="6773291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0891" y="0"/>
                  </a:lnTo>
                  <a:cubicBezTo>
                    <a:pt x="6705092" y="0"/>
                    <a:pt x="6773291" y="68199"/>
                    <a:pt x="6773291" y="152400"/>
                  </a:cubicBezTo>
                  <a:cubicBezTo>
                    <a:pt x="6773291" y="110363"/>
                    <a:pt x="6739128" y="76200"/>
                    <a:pt x="6697091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E8743B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00200" y="2846080"/>
            <a:ext cx="4447461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E8743B"/>
                </a:solidFill>
                <a:latin typeface="Arial Bold"/>
                <a:ea typeface="Arial Bold"/>
                <a:cs typeface="Arial Bold"/>
                <a:sym typeface="Arial Bold"/>
              </a:rPr>
              <a:t>Achieved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0200" y="3381375"/>
            <a:ext cx="4447461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End-to-end pipeline: data, features, model and web app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603921" y="2430790"/>
            <a:ext cx="5080035" cy="2536508"/>
            <a:chOff x="0" y="0"/>
            <a:chExt cx="6773380" cy="33820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73418" cy="3382010"/>
            </a:xfrm>
            <a:custGeom>
              <a:avLst/>
              <a:gdLst/>
              <a:ahLst/>
              <a:cxnLst/>
              <a:rect r="r" b="b" t="t" l="l"/>
              <a:pathLst>
                <a:path h="338201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lnTo>
                    <a:pt x="6773418" y="3229610"/>
                  </a:lnTo>
                  <a:cubicBezTo>
                    <a:pt x="6773418" y="3313811"/>
                    <a:pt x="6705219" y="3382010"/>
                    <a:pt x="6621018" y="3382010"/>
                  </a:cubicBezTo>
                  <a:lnTo>
                    <a:pt x="152400" y="3382010"/>
                  </a:lnTo>
                  <a:cubicBezTo>
                    <a:pt x="68199" y="3382010"/>
                    <a:pt x="0" y="3313811"/>
                    <a:pt x="0" y="322961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603921" y="2430790"/>
            <a:ext cx="5080035" cy="2536508"/>
            <a:chOff x="0" y="0"/>
            <a:chExt cx="6773380" cy="33820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73418" cy="152400"/>
            </a:xfrm>
            <a:custGeom>
              <a:avLst/>
              <a:gdLst/>
              <a:ahLst/>
              <a:cxnLst/>
              <a:rect r="r" b="b" t="t" l="l"/>
              <a:pathLst>
                <a:path h="15240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cubicBezTo>
                    <a:pt x="6773418" y="110363"/>
                    <a:pt x="6739255" y="76200"/>
                    <a:pt x="6697218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2F7F96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984921" y="2846080"/>
            <a:ext cx="4447584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E8743B"/>
                </a:solidFill>
                <a:latin typeface="Arial Bold"/>
                <a:ea typeface="Arial Bold"/>
                <a:cs typeface="Arial Bold"/>
                <a:sym typeface="Arial Bold"/>
              </a:rPr>
              <a:t>Key outcome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84921" y="3381375"/>
            <a:ext cx="444758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MAE 15.48 and RMSE 20.67 runs; career average dominates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988765" y="2430790"/>
            <a:ext cx="5080035" cy="2536508"/>
            <a:chOff x="0" y="0"/>
            <a:chExt cx="6773380" cy="33820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73418" cy="3382010"/>
            </a:xfrm>
            <a:custGeom>
              <a:avLst/>
              <a:gdLst/>
              <a:ahLst/>
              <a:cxnLst/>
              <a:rect r="r" b="b" t="t" l="l"/>
              <a:pathLst>
                <a:path h="338201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lnTo>
                    <a:pt x="6773418" y="3229610"/>
                  </a:lnTo>
                  <a:cubicBezTo>
                    <a:pt x="6773418" y="3313811"/>
                    <a:pt x="6705219" y="3382010"/>
                    <a:pt x="6621018" y="3382010"/>
                  </a:cubicBezTo>
                  <a:lnTo>
                    <a:pt x="152400" y="3382010"/>
                  </a:lnTo>
                  <a:cubicBezTo>
                    <a:pt x="68199" y="3382010"/>
                    <a:pt x="0" y="3313811"/>
                    <a:pt x="0" y="3229610"/>
                  </a:cubicBezTo>
                  <a:close/>
                </a:path>
              </a:pathLst>
            </a:custGeom>
            <a:solidFill>
              <a:srgbClr val="FFFAF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988765" y="2430790"/>
            <a:ext cx="5080035" cy="2536508"/>
            <a:chOff x="0" y="0"/>
            <a:chExt cx="6773380" cy="33820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73418" cy="152400"/>
            </a:xfrm>
            <a:custGeom>
              <a:avLst/>
              <a:gdLst/>
              <a:ahLst/>
              <a:cxnLst/>
              <a:rect r="r" b="b" t="t" l="l"/>
              <a:pathLst>
                <a:path h="152400" w="6773418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621018" y="0"/>
                  </a:lnTo>
                  <a:cubicBezTo>
                    <a:pt x="6705219" y="0"/>
                    <a:pt x="6773418" y="68199"/>
                    <a:pt x="6773418" y="152400"/>
                  </a:cubicBezTo>
                  <a:cubicBezTo>
                    <a:pt x="6773418" y="110363"/>
                    <a:pt x="6739255" y="76200"/>
                    <a:pt x="6697218" y="76200"/>
                  </a:cubicBezTo>
                  <a:lnTo>
                    <a:pt x="152400" y="76200"/>
                  </a:lnTo>
                  <a:cubicBezTo>
                    <a:pt x="110363" y="76200"/>
                    <a:pt x="76200" y="110363"/>
                    <a:pt x="76200" y="152400"/>
                  </a:cubicBezTo>
                  <a:close/>
                </a:path>
              </a:pathLst>
            </a:custGeom>
            <a:solidFill>
              <a:srgbClr val="E8743B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369765" y="2846080"/>
            <a:ext cx="4447584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E8743B"/>
                </a:solidFill>
                <a:latin typeface="Arial Bold"/>
                <a:ea typeface="Arial Bold"/>
                <a:cs typeface="Arial Bold"/>
                <a:sym typeface="Arial Bold"/>
              </a:rPr>
              <a:t>Contribution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69765" y="3381375"/>
            <a:ext cx="4447584" cy="1243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2B3640"/>
                </a:solidFill>
                <a:latin typeface="Arial"/>
                <a:ea typeface="Arial"/>
                <a:cs typeface="Arial"/>
                <a:sym typeface="Arial"/>
              </a:rPr>
              <a:t>A leakage-safe baseline and honest evidence of how hard single-match prediction 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DAHX6tnpa3g</dc:identifier>
  <dcterms:modified xsi:type="dcterms:W3CDTF">2011-08-01T06:04:30Z</dcterms:modified>
  <cp:revision>1</cp:revision>
  <dc:title>Cricket Player Performance Predictor.pptx</dc:title>
</cp:coreProperties>
</file>