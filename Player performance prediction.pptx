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Raleway Bold" charset="1" panose="00000000000000000000"/>
      <p:regular r:id="rId12"/>
    </p:embeddedFont>
    <p:embeddedFont>
      <p:font typeface="Raleway Bold Italics" charset="1" panose="00000000000000000000"/>
      <p:regular r:id="rId13"/>
    </p:embeddedFont>
    <p:embeddedFont>
      <p:font typeface="Raleway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4.png" Type="http://schemas.openxmlformats.org/officeDocument/2006/relationships/image"/><Relationship Id="rId13" Target="../media/image5.svg" Type="http://schemas.openxmlformats.org/officeDocument/2006/relationships/image"/><Relationship Id="rId14" Target="../media/image6.png" Type="http://schemas.openxmlformats.org/officeDocument/2006/relationships/image"/><Relationship Id="rId15" Target="../media/image7.svg" Type="http://schemas.openxmlformats.org/officeDocument/2006/relationships/image"/><Relationship Id="rId16" Target="../media/image8.png" Type="http://schemas.openxmlformats.org/officeDocument/2006/relationships/image"/><Relationship Id="rId17" Target="../media/image9.svg" Type="http://schemas.openxmlformats.org/officeDocument/2006/relationships/image"/><Relationship Id="rId18" Target="../media/image10.png" Type="http://schemas.openxmlformats.org/officeDocument/2006/relationships/image"/><Relationship Id="rId19" Target="../media/image11.svg" Type="http://schemas.openxmlformats.org/officeDocument/2006/relationships/image"/><Relationship Id="rId2" Target="../media/image14.png" Type="http://schemas.openxmlformats.org/officeDocument/2006/relationships/image"/><Relationship Id="rId20" Target="../media/image12.png" Type="http://schemas.openxmlformats.org/officeDocument/2006/relationships/image"/><Relationship Id="rId21" Target="../media/image13.sv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15" Target="../media/image10.png" Type="http://schemas.openxmlformats.org/officeDocument/2006/relationships/image"/><Relationship Id="rId16" Target="../media/image11.svg" Type="http://schemas.openxmlformats.org/officeDocument/2006/relationships/image"/><Relationship Id="rId17" Target="../media/image12.png" Type="http://schemas.openxmlformats.org/officeDocument/2006/relationships/image"/><Relationship Id="rId18" Target="../media/image13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24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4.png" Type="http://schemas.openxmlformats.org/officeDocument/2006/relationships/image"/><Relationship Id="rId13" Target="../media/image5.svg" Type="http://schemas.openxmlformats.org/officeDocument/2006/relationships/image"/><Relationship Id="rId14" Target="../media/image6.png" Type="http://schemas.openxmlformats.org/officeDocument/2006/relationships/image"/><Relationship Id="rId15" Target="../media/image7.svg" Type="http://schemas.openxmlformats.org/officeDocument/2006/relationships/image"/><Relationship Id="rId16" Target="../media/image8.png" Type="http://schemas.openxmlformats.org/officeDocument/2006/relationships/image"/><Relationship Id="rId17" Target="../media/image9.svg" Type="http://schemas.openxmlformats.org/officeDocument/2006/relationships/image"/><Relationship Id="rId18" Target="../media/image10.png" Type="http://schemas.openxmlformats.org/officeDocument/2006/relationships/image"/><Relationship Id="rId19" Target="../media/image11.svg" Type="http://schemas.openxmlformats.org/officeDocument/2006/relationships/image"/><Relationship Id="rId2" Target="../media/image14.png" Type="http://schemas.openxmlformats.org/officeDocument/2006/relationships/image"/><Relationship Id="rId20" Target="../media/image12.png" Type="http://schemas.openxmlformats.org/officeDocument/2006/relationships/image"/><Relationship Id="rId21" Target="../media/image13.svg" Type="http://schemas.openxmlformats.org/officeDocument/2006/relationships/image"/><Relationship Id="rId3" Target="../media/image15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16" Target="../media/image22.png" Type="http://schemas.openxmlformats.org/officeDocument/2006/relationships/image"/><Relationship Id="rId17" Target="../media/image23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18" Target="../media/image22.png" Type="http://schemas.openxmlformats.org/officeDocument/2006/relationships/image"/><Relationship Id="rId19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00648" y="-1647633"/>
            <a:ext cx="4111445" cy="4487252"/>
          </a:xfrm>
          <a:custGeom>
            <a:avLst/>
            <a:gdLst/>
            <a:ahLst/>
            <a:cxnLst/>
            <a:rect r="r" b="b" t="t" l="l"/>
            <a:pathLst>
              <a:path h="4487252" w="4111445">
                <a:moveTo>
                  <a:pt x="0" y="0"/>
                </a:moveTo>
                <a:lnTo>
                  <a:pt x="4111444" y="0"/>
                </a:lnTo>
                <a:lnTo>
                  <a:pt x="4111444" y="4487252"/>
                </a:lnTo>
                <a:lnTo>
                  <a:pt x="0" y="448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98023" y="1028700"/>
            <a:ext cx="5361277" cy="8229600"/>
          </a:xfrm>
          <a:custGeom>
            <a:avLst/>
            <a:gdLst/>
            <a:ahLst/>
            <a:cxnLst/>
            <a:rect r="r" b="b" t="t" l="l"/>
            <a:pathLst>
              <a:path h="8229600" w="5361277">
                <a:moveTo>
                  <a:pt x="0" y="0"/>
                </a:moveTo>
                <a:lnTo>
                  <a:pt x="5361277" y="0"/>
                </a:lnTo>
                <a:lnTo>
                  <a:pt x="536127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2" r="0" b="-11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87134" y="6444335"/>
            <a:ext cx="3786881" cy="4133021"/>
          </a:xfrm>
          <a:custGeom>
            <a:avLst/>
            <a:gdLst/>
            <a:ahLst/>
            <a:cxnLst/>
            <a:rect r="r" b="b" t="t" l="l"/>
            <a:pathLst>
              <a:path h="4133021" w="3786881">
                <a:moveTo>
                  <a:pt x="0" y="0"/>
                </a:moveTo>
                <a:lnTo>
                  <a:pt x="3786881" y="0"/>
                </a:lnTo>
                <a:lnTo>
                  <a:pt x="3786881" y="4133021"/>
                </a:lnTo>
                <a:lnTo>
                  <a:pt x="0" y="4133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403052" y="595993"/>
            <a:ext cx="1130795" cy="3086100"/>
            <a:chOff x="0" y="0"/>
            <a:chExt cx="29782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7823" cy="812800"/>
            </a:xfrm>
            <a:custGeom>
              <a:avLst/>
              <a:gdLst/>
              <a:ahLst/>
              <a:cxnLst/>
              <a:rect r="r" b="b" t="t" l="l"/>
              <a:pathLst>
                <a:path h="812800" w="297823">
                  <a:moveTo>
                    <a:pt x="0" y="0"/>
                  </a:moveTo>
                  <a:lnTo>
                    <a:pt x="297823" y="0"/>
                  </a:lnTo>
                  <a:lnTo>
                    <a:pt x="297823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84500"/>
                  </a:srgbClr>
                </a:gs>
                <a:gs pos="100000">
                  <a:srgbClr val="011149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9782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43220" y="8630285"/>
            <a:ext cx="1130795" cy="1143000"/>
            <a:chOff x="0" y="0"/>
            <a:chExt cx="297823" cy="3010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823" cy="301037"/>
            </a:xfrm>
            <a:custGeom>
              <a:avLst/>
              <a:gdLst/>
              <a:ahLst/>
              <a:cxnLst/>
              <a:rect r="r" b="b" t="t" l="l"/>
              <a:pathLst>
                <a:path h="301037" w="297823">
                  <a:moveTo>
                    <a:pt x="0" y="0"/>
                  </a:moveTo>
                  <a:lnTo>
                    <a:pt x="297823" y="0"/>
                  </a:lnTo>
                  <a:lnTo>
                    <a:pt x="297823" y="301037"/>
                  </a:lnTo>
                  <a:lnTo>
                    <a:pt x="0" y="301037"/>
                  </a:ln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84500"/>
                  </a:srgbClr>
                </a:gs>
                <a:gs pos="100000">
                  <a:srgbClr val="011149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97823" cy="348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652288" y="297403"/>
            <a:ext cx="3361975" cy="3669277"/>
          </a:xfrm>
          <a:custGeom>
            <a:avLst/>
            <a:gdLst/>
            <a:ahLst/>
            <a:cxnLst/>
            <a:rect r="r" b="b" t="t" l="l"/>
            <a:pathLst>
              <a:path h="3669277" w="3361975">
                <a:moveTo>
                  <a:pt x="0" y="0"/>
                </a:moveTo>
                <a:lnTo>
                  <a:pt x="3361976" y="0"/>
                </a:lnTo>
                <a:lnTo>
                  <a:pt x="3361976" y="3669277"/>
                </a:lnTo>
                <a:lnTo>
                  <a:pt x="0" y="3669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78169" y="8593475"/>
            <a:ext cx="1090838" cy="73620"/>
            <a:chOff x="0" y="0"/>
            <a:chExt cx="1454450" cy="981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78145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60" y="0"/>
                  </a:lnTo>
                  <a:lnTo>
                    <a:pt x="98160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017218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60" y="0"/>
                  </a:lnTo>
                  <a:lnTo>
                    <a:pt x="98160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56291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9073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778169" y="1178783"/>
            <a:ext cx="310243" cy="310243"/>
          </a:xfrm>
          <a:custGeom>
            <a:avLst/>
            <a:gdLst/>
            <a:ahLst/>
            <a:cxnLst/>
            <a:rect r="r" b="b" t="t" l="l"/>
            <a:pathLst>
              <a:path h="310243" w="310243">
                <a:moveTo>
                  <a:pt x="0" y="0"/>
                </a:moveTo>
                <a:lnTo>
                  <a:pt x="310243" y="0"/>
                </a:lnTo>
                <a:lnTo>
                  <a:pt x="310243" y="310243"/>
                </a:lnTo>
                <a:lnTo>
                  <a:pt x="0" y="31024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78169" y="3070176"/>
            <a:ext cx="9261590" cy="1104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64"/>
              </a:lnSpc>
              <a:spcBef>
                <a:spcPct val="0"/>
              </a:spcBef>
            </a:pPr>
            <a:r>
              <a:rPr lang="en-US" b="true" sz="640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Cricket Player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68744" y="1156286"/>
            <a:ext cx="4140220" cy="59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b="true" sz="1898" i="true" spc="94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Salman Ahmed - 2520089070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 i="true" spc="74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P Venkata Harshavardhan - 2520089071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78169" y="4335000"/>
            <a:ext cx="9261590" cy="1114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33"/>
              </a:lnSpc>
              <a:spcBef>
                <a:spcPct val="0"/>
              </a:spcBef>
            </a:pPr>
            <a:r>
              <a:rPr lang="en-US" b="true" sz="6381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Performance Prediction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78169" y="6368135"/>
            <a:ext cx="6518390" cy="606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3497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Progress Update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78169" y="7107949"/>
            <a:ext cx="6518390" cy="66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 spc="9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IPL Batting Performance Prediction 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10243" cy="310243"/>
          </a:xfrm>
          <a:custGeom>
            <a:avLst/>
            <a:gdLst/>
            <a:ahLst/>
            <a:cxnLst/>
            <a:rect r="r" b="b" t="t" l="l"/>
            <a:pathLst>
              <a:path h="310243" w="310243">
                <a:moveTo>
                  <a:pt x="0" y="0"/>
                </a:moveTo>
                <a:lnTo>
                  <a:pt x="310243" y="0"/>
                </a:lnTo>
                <a:lnTo>
                  <a:pt x="310243" y="310243"/>
                </a:lnTo>
                <a:lnTo>
                  <a:pt x="0" y="310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4185" y="3662392"/>
            <a:ext cx="1473189" cy="1818752"/>
          </a:xfrm>
          <a:custGeom>
            <a:avLst/>
            <a:gdLst/>
            <a:ahLst/>
            <a:cxnLst/>
            <a:rect r="r" b="b" t="t" l="l"/>
            <a:pathLst>
              <a:path h="1818752" w="1473189">
                <a:moveTo>
                  <a:pt x="0" y="0"/>
                </a:moveTo>
                <a:lnTo>
                  <a:pt x="1473189" y="0"/>
                </a:lnTo>
                <a:lnTo>
                  <a:pt x="1473189" y="1818752"/>
                </a:lnTo>
                <a:lnTo>
                  <a:pt x="0" y="1818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73120" y="4062200"/>
            <a:ext cx="1195765" cy="1181814"/>
          </a:xfrm>
          <a:custGeom>
            <a:avLst/>
            <a:gdLst/>
            <a:ahLst/>
            <a:cxnLst/>
            <a:rect r="r" b="b" t="t" l="l"/>
            <a:pathLst>
              <a:path h="1181814" w="1195765">
                <a:moveTo>
                  <a:pt x="0" y="0"/>
                </a:moveTo>
                <a:lnTo>
                  <a:pt x="1195764" y="0"/>
                </a:lnTo>
                <a:lnTo>
                  <a:pt x="1195764" y="1181814"/>
                </a:lnTo>
                <a:lnTo>
                  <a:pt x="0" y="11818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49181" y="4111485"/>
            <a:ext cx="1270044" cy="1182222"/>
          </a:xfrm>
          <a:custGeom>
            <a:avLst/>
            <a:gdLst/>
            <a:ahLst/>
            <a:cxnLst/>
            <a:rect r="r" b="b" t="t" l="l"/>
            <a:pathLst>
              <a:path h="1182222" w="1270044">
                <a:moveTo>
                  <a:pt x="0" y="0"/>
                </a:moveTo>
                <a:lnTo>
                  <a:pt x="1270044" y="0"/>
                </a:lnTo>
                <a:lnTo>
                  <a:pt x="1270044" y="1182222"/>
                </a:lnTo>
                <a:lnTo>
                  <a:pt x="0" y="11822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65155" y="4183722"/>
            <a:ext cx="1240293" cy="1129134"/>
          </a:xfrm>
          <a:custGeom>
            <a:avLst/>
            <a:gdLst/>
            <a:ahLst/>
            <a:cxnLst/>
            <a:rect r="r" b="b" t="t" l="l"/>
            <a:pathLst>
              <a:path h="1129134" w="1240293">
                <a:moveTo>
                  <a:pt x="0" y="0"/>
                </a:moveTo>
                <a:lnTo>
                  <a:pt x="1240293" y="0"/>
                </a:lnTo>
                <a:lnTo>
                  <a:pt x="1240293" y="1129135"/>
                </a:lnTo>
                <a:lnTo>
                  <a:pt x="0" y="11291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19275" y="1006203"/>
            <a:ext cx="4140220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0"/>
              </a:lnSpc>
              <a:spcBef>
                <a:spcPct val="0"/>
              </a:spcBef>
            </a:pPr>
            <a:r>
              <a:rPr lang="en-US" b="true" sz="1900" i="true" spc="95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Cricket Player Performance Prediction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9275" y="2089464"/>
            <a:ext cx="762472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What We're Building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95832" y="1794824"/>
            <a:ext cx="6404090" cy="166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Predicting IPL player batting performance using Machine Learning, based on historical ball-by-ball data spanning 2008 to 2023. The goal is to generate accurate, data-driven run predictions for individual players.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9275" y="5489980"/>
            <a:ext cx="338330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Dataset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7118" y="5489980"/>
            <a:ext cx="338330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Model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9275" y="6220269"/>
            <a:ext cx="3383304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Kaggle ball-by-ball IPL data covering 16 seasons from 2008 to 2023.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87118" y="6220269"/>
            <a:ext cx="3383304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Gradient Boosting ML model trained on per-match player statistics.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78645" y="8381809"/>
            <a:ext cx="9930711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5CE1E6"/>
                </a:solidFill>
                <a:latin typeface="Raleway"/>
                <a:ea typeface="Raleway"/>
                <a:cs typeface="Raleway"/>
                <a:sym typeface="Raleway"/>
              </a:rPr>
              <a:t>Turning raw cricket data into actionable performance predictions to support team strategy, fantasy sports, and player analysis.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54961" y="5489980"/>
            <a:ext cx="338330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Features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54961" y="6220269"/>
            <a:ext cx="3383304" cy="133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Career-average features engineered to avoid data leakage, using only past match history.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22804" y="5489980"/>
            <a:ext cx="338330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Predictions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22804" y="6220269"/>
            <a:ext cx="3383304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Estimated runs scored per player per match, with MAE ~15.5 and RMSE ~20.7.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-410393" y="7595147"/>
            <a:ext cx="3296668" cy="2287063"/>
          </a:xfrm>
          <a:custGeom>
            <a:avLst/>
            <a:gdLst/>
            <a:ahLst/>
            <a:cxnLst/>
            <a:rect r="r" b="b" t="t" l="l"/>
            <a:pathLst>
              <a:path h="2287063" w="3296668">
                <a:moveTo>
                  <a:pt x="0" y="0"/>
                </a:moveTo>
                <a:lnTo>
                  <a:pt x="3296668" y="0"/>
                </a:lnTo>
                <a:lnTo>
                  <a:pt x="3296668" y="2287063"/>
                </a:lnTo>
                <a:lnTo>
                  <a:pt x="0" y="22870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800000">
            <a:off x="16637152" y="-175019"/>
            <a:ext cx="1244297" cy="3480550"/>
          </a:xfrm>
          <a:custGeom>
            <a:avLst/>
            <a:gdLst/>
            <a:ahLst/>
            <a:cxnLst/>
            <a:rect r="r" b="b" t="t" l="l"/>
            <a:pathLst>
              <a:path h="3480550" w="1244297">
                <a:moveTo>
                  <a:pt x="0" y="0"/>
                </a:moveTo>
                <a:lnTo>
                  <a:pt x="1244296" y="0"/>
                </a:lnTo>
                <a:lnTo>
                  <a:pt x="1244296" y="3480550"/>
                </a:lnTo>
                <a:lnTo>
                  <a:pt x="0" y="34805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091733" y="9184680"/>
            <a:ext cx="1090838" cy="73620"/>
            <a:chOff x="0" y="0"/>
            <a:chExt cx="1454450" cy="981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78145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60" y="0"/>
                  </a:lnTo>
                  <a:lnTo>
                    <a:pt x="98160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017218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60" y="0"/>
                  </a:lnTo>
                  <a:lnTo>
                    <a:pt x="98160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356291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39073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806108" y="7603708"/>
            <a:ext cx="1130795" cy="1197024"/>
            <a:chOff x="0" y="0"/>
            <a:chExt cx="297823" cy="31526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97823" cy="315266"/>
            </a:xfrm>
            <a:custGeom>
              <a:avLst/>
              <a:gdLst/>
              <a:ahLst/>
              <a:cxnLst/>
              <a:rect r="r" b="b" t="t" l="l"/>
              <a:pathLst>
                <a:path h="315266" w="297823">
                  <a:moveTo>
                    <a:pt x="0" y="0"/>
                  </a:moveTo>
                  <a:lnTo>
                    <a:pt x="297823" y="0"/>
                  </a:lnTo>
                  <a:lnTo>
                    <a:pt x="297823" y="315266"/>
                  </a:lnTo>
                  <a:lnTo>
                    <a:pt x="0" y="315266"/>
                  </a:ln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84500"/>
                  </a:srgbClr>
                </a:gs>
                <a:gs pos="100000">
                  <a:srgbClr val="011149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97823" cy="362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10243" cy="310243"/>
          </a:xfrm>
          <a:custGeom>
            <a:avLst/>
            <a:gdLst/>
            <a:ahLst/>
            <a:cxnLst/>
            <a:rect r="r" b="b" t="t" l="l"/>
            <a:pathLst>
              <a:path h="310243" w="310243">
                <a:moveTo>
                  <a:pt x="0" y="0"/>
                </a:moveTo>
                <a:lnTo>
                  <a:pt x="310243" y="0"/>
                </a:lnTo>
                <a:lnTo>
                  <a:pt x="310243" y="310243"/>
                </a:lnTo>
                <a:lnTo>
                  <a:pt x="0" y="310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9275" y="4203055"/>
            <a:ext cx="4216736" cy="849086"/>
            <a:chOff x="0" y="0"/>
            <a:chExt cx="1110581" cy="223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0581" cy="223628"/>
            </a:xfrm>
            <a:custGeom>
              <a:avLst/>
              <a:gdLst/>
              <a:ahLst/>
              <a:cxnLst/>
              <a:rect r="r" b="b" t="t" l="l"/>
              <a:pathLst>
                <a:path h="223628" w="1110581">
                  <a:moveTo>
                    <a:pt x="93636" y="0"/>
                  </a:moveTo>
                  <a:lnTo>
                    <a:pt x="1016945" y="0"/>
                  </a:lnTo>
                  <a:cubicBezTo>
                    <a:pt x="1068658" y="0"/>
                    <a:pt x="1110581" y="41922"/>
                    <a:pt x="1110581" y="93636"/>
                  </a:cubicBezTo>
                  <a:lnTo>
                    <a:pt x="1110581" y="129992"/>
                  </a:lnTo>
                  <a:cubicBezTo>
                    <a:pt x="1110581" y="181705"/>
                    <a:pt x="1068658" y="223628"/>
                    <a:pt x="1016945" y="223628"/>
                  </a:cubicBezTo>
                  <a:lnTo>
                    <a:pt x="93636" y="223628"/>
                  </a:lnTo>
                  <a:cubicBezTo>
                    <a:pt x="68802" y="223628"/>
                    <a:pt x="44985" y="213762"/>
                    <a:pt x="27425" y="196202"/>
                  </a:cubicBezTo>
                  <a:cubicBezTo>
                    <a:pt x="9865" y="178642"/>
                    <a:pt x="0" y="154825"/>
                    <a:pt x="0" y="129992"/>
                  </a:cubicBezTo>
                  <a:lnTo>
                    <a:pt x="0" y="93636"/>
                  </a:lnTo>
                  <a:cubicBezTo>
                    <a:pt x="0" y="68802"/>
                    <a:pt x="9865" y="44985"/>
                    <a:pt x="27425" y="27425"/>
                  </a:cubicBezTo>
                  <a:cubicBezTo>
                    <a:pt x="44985" y="9865"/>
                    <a:pt x="68802" y="0"/>
                    <a:pt x="93636" y="0"/>
                  </a:cubicBezTo>
                  <a:close/>
                </a:path>
              </a:pathLst>
            </a:custGeom>
            <a:ln w="9525" cap="rnd">
              <a:solidFill>
                <a:srgbClr val="5CE1E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110581" cy="271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19275" y="5280741"/>
            <a:ext cx="4216736" cy="849086"/>
            <a:chOff x="0" y="0"/>
            <a:chExt cx="1110581" cy="2236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0581" cy="223628"/>
            </a:xfrm>
            <a:custGeom>
              <a:avLst/>
              <a:gdLst/>
              <a:ahLst/>
              <a:cxnLst/>
              <a:rect r="r" b="b" t="t" l="l"/>
              <a:pathLst>
                <a:path h="223628" w="1110581">
                  <a:moveTo>
                    <a:pt x="93636" y="0"/>
                  </a:moveTo>
                  <a:lnTo>
                    <a:pt x="1016945" y="0"/>
                  </a:lnTo>
                  <a:cubicBezTo>
                    <a:pt x="1068658" y="0"/>
                    <a:pt x="1110581" y="41922"/>
                    <a:pt x="1110581" y="93636"/>
                  </a:cubicBezTo>
                  <a:lnTo>
                    <a:pt x="1110581" y="129992"/>
                  </a:lnTo>
                  <a:cubicBezTo>
                    <a:pt x="1110581" y="181705"/>
                    <a:pt x="1068658" y="223628"/>
                    <a:pt x="1016945" y="223628"/>
                  </a:cubicBezTo>
                  <a:lnTo>
                    <a:pt x="93636" y="223628"/>
                  </a:lnTo>
                  <a:cubicBezTo>
                    <a:pt x="68802" y="223628"/>
                    <a:pt x="44985" y="213762"/>
                    <a:pt x="27425" y="196202"/>
                  </a:cubicBezTo>
                  <a:cubicBezTo>
                    <a:pt x="9865" y="178642"/>
                    <a:pt x="0" y="154825"/>
                    <a:pt x="0" y="129992"/>
                  </a:cubicBezTo>
                  <a:lnTo>
                    <a:pt x="0" y="93636"/>
                  </a:lnTo>
                  <a:cubicBezTo>
                    <a:pt x="0" y="68802"/>
                    <a:pt x="9865" y="44985"/>
                    <a:pt x="27425" y="27425"/>
                  </a:cubicBezTo>
                  <a:cubicBezTo>
                    <a:pt x="44985" y="9865"/>
                    <a:pt x="68802" y="0"/>
                    <a:pt x="93636" y="0"/>
                  </a:cubicBezTo>
                  <a:close/>
                </a:path>
              </a:pathLst>
            </a:custGeom>
            <a:ln w="9525" cap="rnd">
              <a:solidFill>
                <a:srgbClr val="5CE1E6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10581" cy="271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637027" y="2910644"/>
            <a:ext cx="6143635" cy="6256336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5400000">
            <a:off x="15586931" y="-269332"/>
            <a:ext cx="3296668" cy="2287063"/>
          </a:xfrm>
          <a:custGeom>
            <a:avLst/>
            <a:gdLst/>
            <a:ahLst/>
            <a:cxnLst/>
            <a:rect r="r" b="b" t="t" l="l"/>
            <a:pathLst>
              <a:path h="2287063" w="3296668">
                <a:moveTo>
                  <a:pt x="0" y="0"/>
                </a:moveTo>
                <a:lnTo>
                  <a:pt x="3296667" y="0"/>
                </a:lnTo>
                <a:lnTo>
                  <a:pt x="3296667" y="2287063"/>
                </a:lnTo>
                <a:lnTo>
                  <a:pt x="0" y="22870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5400000">
            <a:off x="897127" y="7700471"/>
            <a:ext cx="1244297" cy="3480550"/>
          </a:xfrm>
          <a:custGeom>
            <a:avLst/>
            <a:gdLst/>
            <a:ahLst/>
            <a:cxnLst/>
            <a:rect r="r" b="b" t="t" l="l"/>
            <a:pathLst>
              <a:path h="3480550" w="1244297">
                <a:moveTo>
                  <a:pt x="1244296" y="3480551"/>
                </a:moveTo>
                <a:lnTo>
                  <a:pt x="0" y="3480551"/>
                </a:lnTo>
                <a:lnTo>
                  <a:pt x="0" y="0"/>
                </a:lnTo>
                <a:lnTo>
                  <a:pt x="1244296" y="0"/>
                </a:lnTo>
                <a:lnTo>
                  <a:pt x="1244296" y="348055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091733" y="9184680"/>
            <a:ext cx="1090838" cy="73620"/>
            <a:chOff x="0" y="0"/>
            <a:chExt cx="1454450" cy="981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78145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60" y="0"/>
                  </a:lnTo>
                  <a:lnTo>
                    <a:pt x="98160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017218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60" y="0"/>
                  </a:lnTo>
                  <a:lnTo>
                    <a:pt x="98160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56291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9073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032494" y="8690341"/>
            <a:ext cx="2664833" cy="750406"/>
            <a:chOff x="0" y="0"/>
            <a:chExt cx="701849" cy="1976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1849" cy="197638"/>
            </a:xfrm>
            <a:custGeom>
              <a:avLst/>
              <a:gdLst/>
              <a:ahLst/>
              <a:cxnLst/>
              <a:rect r="r" b="b" t="t" l="l"/>
              <a:pathLst>
                <a:path h="197638" w="701849">
                  <a:moveTo>
                    <a:pt x="0" y="0"/>
                  </a:moveTo>
                  <a:lnTo>
                    <a:pt x="701849" y="0"/>
                  </a:lnTo>
                  <a:lnTo>
                    <a:pt x="701849" y="197638"/>
                  </a:lnTo>
                  <a:lnTo>
                    <a:pt x="0" y="197638"/>
                  </a:ln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84500"/>
                  </a:srgbClr>
                </a:gs>
                <a:gs pos="100000">
                  <a:srgbClr val="011149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01849" cy="245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954896" y="9065544"/>
            <a:ext cx="2664833" cy="750406"/>
            <a:chOff x="0" y="0"/>
            <a:chExt cx="701849" cy="1976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1849" cy="197638"/>
            </a:xfrm>
            <a:custGeom>
              <a:avLst/>
              <a:gdLst/>
              <a:ahLst/>
              <a:cxnLst/>
              <a:rect r="r" b="b" t="t" l="l"/>
              <a:pathLst>
                <a:path h="197638" w="701849">
                  <a:moveTo>
                    <a:pt x="0" y="0"/>
                  </a:moveTo>
                  <a:lnTo>
                    <a:pt x="701849" y="0"/>
                  </a:lnTo>
                  <a:lnTo>
                    <a:pt x="701849" y="197638"/>
                  </a:lnTo>
                  <a:lnTo>
                    <a:pt x="0" y="197638"/>
                  </a:ln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84500"/>
                  </a:srgbClr>
                </a:gs>
                <a:gs pos="100000">
                  <a:srgbClr val="011149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01849" cy="245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519275" y="1006203"/>
            <a:ext cx="4140220" cy="66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  <a:spcBef>
                <a:spcPct val="0"/>
              </a:spcBef>
            </a:pPr>
            <a:r>
              <a:rPr lang="en-US" b="true" sz="1898" i="true" spc="94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Cricket Player Performance Prediction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9275" y="2098989"/>
            <a:ext cx="7624725" cy="101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What's Been Done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19275" y="3644317"/>
            <a:ext cx="3383304" cy="3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  <a:spcBef>
                <a:spcPct val="0"/>
              </a:spcBef>
            </a:pPr>
            <a:r>
              <a:rPr lang="en-US" b="true" sz="1898" i="true" spc="94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Milestones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05675" y="3644317"/>
            <a:ext cx="3383304" cy="3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  <a:spcBef>
                <a:spcPct val="0"/>
              </a:spcBef>
            </a:pPr>
            <a:r>
              <a:rPr lang="en-US" b="true" sz="1898" i="true" spc="94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Details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59280" y="2165664"/>
            <a:ext cx="3383304" cy="33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  <a:spcBef>
                <a:spcPct val="0"/>
              </a:spcBef>
            </a:pPr>
            <a:r>
              <a:rPr lang="en-US" b="true" sz="1898" i="true" spc="94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Progress Overview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01077" y="4310432"/>
            <a:ext cx="3053131" cy="56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1"/>
              </a:lnSpc>
              <a:spcBef>
                <a:spcPct val="0"/>
              </a:spcBef>
            </a:pPr>
            <a:r>
              <a:rPr lang="en-US" sz="1636" spc="8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Dataset Setup</a:t>
            </a:r>
          </a:p>
          <a:p>
            <a:pPr algn="ctr" marL="0" indent="0" lvl="0">
              <a:lnSpc>
                <a:spcPts val="2291"/>
              </a:lnSpc>
              <a:spcBef>
                <a:spcPct val="0"/>
              </a:spcBef>
            </a:pPr>
            <a:r>
              <a:rPr lang="en-US" sz="1636" spc="8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(Kaggle IPL 2008–2023)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05675" y="4310432"/>
            <a:ext cx="3885888" cy="1139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"/>
              </a:lnSpc>
              <a:spcBef>
                <a:spcPct val="0"/>
              </a:spcBef>
            </a:pPr>
            <a:r>
              <a:rPr lang="en-US" sz="1636" spc="8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Sourced ball-by-ball IPL data from Kaggle covering 2008–2023 seasons. Data cleaned and validated for downstream feature engineering.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05675" y="5819827"/>
            <a:ext cx="3885888" cy="228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"/>
              </a:lnSpc>
            </a:pPr>
            <a:r>
              <a:rPr lang="en-US" sz="1636" spc="8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Raw data converted to per-match player stats</a:t>
            </a:r>
          </a:p>
          <a:p>
            <a:pPr algn="l" marL="0" indent="0" lvl="0">
              <a:lnSpc>
                <a:spcPts val="2291"/>
              </a:lnSpc>
            </a:pPr>
            <a:r>
              <a:rPr lang="en-US" sz="1636" spc="8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Career-average features engineered (no data leakage)</a:t>
            </a:r>
          </a:p>
          <a:p>
            <a:pPr algn="l" marL="0" indent="0" lvl="0">
              <a:lnSpc>
                <a:spcPts val="2291"/>
              </a:lnSpc>
            </a:pPr>
            <a:r>
              <a:rPr lang="en-US" sz="1636" spc="8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Only past matches used in feature calculations</a:t>
            </a:r>
          </a:p>
          <a:p>
            <a:pPr algn="l" marL="0" indent="0" lvl="0">
              <a:lnSpc>
                <a:spcPts val="2291"/>
              </a:lnSpc>
            </a:pPr>
            <a:r>
              <a:rPr lang="en-US" sz="1636" spc="8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Baseline Gradient Boosting model trained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60466" y="5388118"/>
            <a:ext cx="3734353" cy="56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1"/>
              </a:lnSpc>
              <a:spcBef>
                <a:spcPct val="0"/>
              </a:spcBef>
            </a:pPr>
            <a:r>
              <a:rPr lang="en-US" sz="1636" spc="8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Per-Match Stats</a:t>
            </a:r>
          </a:p>
          <a:p>
            <a:pPr algn="ctr" marL="0" indent="0" lvl="0">
              <a:lnSpc>
                <a:spcPts val="2291"/>
              </a:lnSpc>
              <a:spcBef>
                <a:spcPct val="0"/>
              </a:spcBef>
            </a:pPr>
            <a:r>
              <a:rPr lang="en-US" sz="1636" spc="8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Script Built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19275" y="6358427"/>
            <a:ext cx="4216736" cy="849086"/>
            <a:chOff x="0" y="0"/>
            <a:chExt cx="1110581" cy="2236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10581" cy="223628"/>
            </a:xfrm>
            <a:custGeom>
              <a:avLst/>
              <a:gdLst/>
              <a:ahLst/>
              <a:cxnLst/>
              <a:rect r="r" b="b" t="t" l="l"/>
              <a:pathLst>
                <a:path h="223628" w="1110581">
                  <a:moveTo>
                    <a:pt x="93636" y="0"/>
                  </a:moveTo>
                  <a:lnTo>
                    <a:pt x="1016945" y="0"/>
                  </a:lnTo>
                  <a:cubicBezTo>
                    <a:pt x="1068658" y="0"/>
                    <a:pt x="1110581" y="41922"/>
                    <a:pt x="1110581" y="93636"/>
                  </a:cubicBezTo>
                  <a:lnTo>
                    <a:pt x="1110581" y="129992"/>
                  </a:lnTo>
                  <a:cubicBezTo>
                    <a:pt x="1110581" y="181705"/>
                    <a:pt x="1068658" y="223628"/>
                    <a:pt x="1016945" y="223628"/>
                  </a:cubicBezTo>
                  <a:lnTo>
                    <a:pt x="93636" y="223628"/>
                  </a:lnTo>
                  <a:cubicBezTo>
                    <a:pt x="68802" y="223628"/>
                    <a:pt x="44985" y="213762"/>
                    <a:pt x="27425" y="196202"/>
                  </a:cubicBezTo>
                  <a:cubicBezTo>
                    <a:pt x="9865" y="178642"/>
                    <a:pt x="0" y="154825"/>
                    <a:pt x="0" y="129992"/>
                  </a:cubicBezTo>
                  <a:lnTo>
                    <a:pt x="0" y="93636"/>
                  </a:lnTo>
                  <a:cubicBezTo>
                    <a:pt x="0" y="68802"/>
                    <a:pt x="9865" y="44985"/>
                    <a:pt x="27425" y="27425"/>
                  </a:cubicBezTo>
                  <a:cubicBezTo>
                    <a:pt x="44985" y="9865"/>
                    <a:pt x="68802" y="0"/>
                    <a:pt x="93636" y="0"/>
                  </a:cubicBezTo>
                  <a:close/>
                </a:path>
              </a:pathLst>
            </a:custGeom>
            <a:ln w="9525" cap="rnd">
              <a:solidFill>
                <a:srgbClr val="5CE1E6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110581" cy="271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923648" y="6465804"/>
            <a:ext cx="3407989" cy="56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1"/>
              </a:lnSpc>
              <a:spcBef>
                <a:spcPct val="0"/>
              </a:spcBef>
            </a:pPr>
            <a:r>
              <a:rPr lang="en-US" sz="1636" spc="8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Career-Average Features</a:t>
            </a:r>
          </a:p>
          <a:p>
            <a:pPr algn="ctr" marL="0" indent="0" lvl="0">
              <a:lnSpc>
                <a:spcPts val="2291"/>
              </a:lnSpc>
              <a:spcBef>
                <a:spcPct val="0"/>
              </a:spcBef>
            </a:pPr>
            <a:r>
              <a:rPr lang="en-US" sz="1636" spc="8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(Data Leakage Free)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519275" y="7436112"/>
            <a:ext cx="4216736" cy="849086"/>
            <a:chOff x="0" y="0"/>
            <a:chExt cx="1110581" cy="2236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10581" cy="223628"/>
            </a:xfrm>
            <a:custGeom>
              <a:avLst/>
              <a:gdLst/>
              <a:ahLst/>
              <a:cxnLst/>
              <a:rect r="r" b="b" t="t" l="l"/>
              <a:pathLst>
                <a:path h="223628" w="1110581">
                  <a:moveTo>
                    <a:pt x="93636" y="0"/>
                  </a:moveTo>
                  <a:lnTo>
                    <a:pt x="1016945" y="0"/>
                  </a:lnTo>
                  <a:cubicBezTo>
                    <a:pt x="1068658" y="0"/>
                    <a:pt x="1110581" y="41922"/>
                    <a:pt x="1110581" y="93636"/>
                  </a:cubicBezTo>
                  <a:lnTo>
                    <a:pt x="1110581" y="129992"/>
                  </a:lnTo>
                  <a:cubicBezTo>
                    <a:pt x="1110581" y="181705"/>
                    <a:pt x="1068658" y="223628"/>
                    <a:pt x="1016945" y="223628"/>
                  </a:cubicBezTo>
                  <a:lnTo>
                    <a:pt x="93636" y="223628"/>
                  </a:lnTo>
                  <a:cubicBezTo>
                    <a:pt x="68802" y="223628"/>
                    <a:pt x="44985" y="213762"/>
                    <a:pt x="27425" y="196202"/>
                  </a:cubicBezTo>
                  <a:cubicBezTo>
                    <a:pt x="9865" y="178642"/>
                    <a:pt x="0" y="154825"/>
                    <a:pt x="0" y="129992"/>
                  </a:cubicBezTo>
                  <a:lnTo>
                    <a:pt x="0" y="93636"/>
                  </a:lnTo>
                  <a:cubicBezTo>
                    <a:pt x="0" y="68802"/>
                    <a:pt x="9865" y="44985"/>
                    <a:pt x="27425" y="27425"/>
                  </a:cubicBezTo>
                  <a:cubicBezTo>
                    <a:pt x="44985" y="9865"/>
                    <a:pt x="68802" y="0"/>
                    <a:pt x="93636" y="0"/>
                  </a:cubicBezTo>
                  <a:close/>
                </a:path>
              </a:pathLst>
            </a:custGeom>
            <a:ln w="9525" cap="rnd">
              <a:solidFill>
                <a:srgbClr val="5CE1E6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110581" cy="271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760466" y="7543489"/>
            <a:ext cx="3734353" cy="56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1"/>
              </a:lnSpc>
              <a:spcBef>
                <a:spcPct val="0"/>
              </a:spcBef>
            </a:pPr>
            <a:r>
              <a:rPr lang="en-US" sz="1636" spc="8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Baseline Model</a:t>
            </a:r>
          </a:p>
          <a:p>
            <a:pPr algn="ctr" marL="0" indent="0" lvl="0">
              <a:lnSpc>
                <a:spcPts val="2291"/>
              </a:lnSpc>
              <a:spcBef>
                <a:spcPct val="0"/>
              </a:spcBef>
            </a:pPr>
            <a:r>
              <a:rPr lang="en-US" sz="1636" spc="8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Trained &amp; Evaluated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10243" cy="310243"/>
          </a:xfrm>
          <a:custGeom>
            <a:avLst/>
            <a:gdLst/>
            <a:ahLst/>
            <a:cxnLst/>
            <a:rect r="r" b="b" t="t" l="l"/>
            <a:pathLst>
              <a:path h="310243" w="310243">
                <a:moveTo>
                  <a:pt x="0" y="0"/>
                </a:moveTo>
                <a:lnTo>
                  <a:pt x="310243" y="0"/>
                </a:lnTo>
                <a:lnTo>
                  <a:pt x="310243" y="310243"/>
                </a:lnTo>
                <a:lnTo>
                  <a:pt x="0" y="310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8943" y="4590233"/>
            <a:ext cx="3573675" cy="1410031"/>
            <a:chOff x="0" y="0"/>
            <a:chExt cx="941215" cy="3713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1215" cy="371366"/>
            </a:xfrm>
            <a:custGeom>
              <a:avLst/>
              <a:gdLst/>
              <a:ahLst/>
              <a:cxnLst/>
              <a:rect r="r" b="b" t="t" l="l"/>
              <a:pathLst>
                <a:path h="371366" w="941215">
                  <a:moveTo>
                    <a:pt x="110485" y="0"/>
                  </a:moveTo>
                  <a:lnTo>
                    <a:pt x="830730" y="0"/>
                  </a:lnTo>
                  <a:cubicBezTo>
                    <a:pt x="891749" y="0"/>
                    <a:pt x="941215" y="49466"/>
                    <a:pt x="941215" y="110485"/>
                  </a:cubicBezTo>
                  <a:lnTo>
                    <a:pt x="941215" y="260881"/>
                  </a:lnTo>
                  <a:cubicBezTo>
                    <a:pt x="941215" y="321900"/>
                    <a:pt x="891749" y="371366"/>
                    <a:pt x="830730" y="371366"/>
                  </a:cubicBezTo>
                  <a:lnTo>
                    <a:pt x="110485" y="371366"/>
                  </a:lnTo>
                  <a:cubicBezTo>
                    <a:pt x="49466" y="371366"/>
                    <a:pt x="0" y="321900"/>
                    <a:pt x="0" y="260881"/>
                  </a:cubicBezTo>
                  <a:lnTo>
                    <a:pt x="0" y="110485"/>
                  </a:lnTo>
                  <a:cubicBezTo>
                    <a:pt x="0" y="49466"/>
                    <a:pt x="49466" y="0"/>
                    <a:pt x="110485" y="0"/>
                  </a:cubicBezTo>
                  <a:close/>
                </a:path>
              </a:pathLst>
            </a:custGeom>
            <a:ln w="9525" cap="rnd">
              <a:solidFill>
                <a:srgbClr val="5CE1E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41215" cy="41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38943" y="6209638"/>
            <a:ext cx="3573675" cy="1410031"/>
            <a:chOff x="0" y="0"/>
            <a:chExt cx="941215" cy="3713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1215" cy="371366"/>
            </a:xfrm>
            <a:custGeom>
              <a:avLst/>
              <a:gdLst/>
              <a:ahLst/>
              <a:cxnLst/>
              <a:rect r="r" b="b" t="t" l="l"/>
              <a:pathLst>
                <a:path h="371366" w="941215">
                  <a:moveTo>
                    <a:pt x="110485" y="0"/>
                  </a:moveTo>
                  <a:lnTo>
                    <a:pt x="830730" y="0"/>
                  </a:lnTo>
                  <a:cubicBezTo>
                    <a:pt x="891749" y="0"/>
                    <a:pt x="941215" y="49466"/>
                    <a:pt x="941215" y="110485"/>
                  </a:cubicBezTo>
                  <a:lnTo>
                    <a:pt x="941215" y="260881"/>
                  </a:lnTo>
                  <a:cubicBezTo>
                    <a:pt x="941215" y="321900"/>
                    <a:pt x="891749" y="371366"/>
                    <a:pt x="830730" y="371366"/>
                  </a:cubicBezTo>
                  <a:lnTo>
                    <a:pt x="110485" y="371366"/>
                  </a:lnTo>
                  <a:cubicBezTo>
                    <a:pt x="49466" y="371366"/>
                    <a:pt x="0" y="321900"/>
                    <a:pt x="0" y="260881"/>
                  </a:cubicBezTo>
                  <a:lnTo>
                    <a:pt x="0" y="110485"/>
                  </a:lnTo>
                  <a:cubicBezTo>
                    <a:pt x="0" y="49466"/>
                    <a:pt x="49466" y="0"/>
                    <a:pt x="110485" y="0"/>
                  </a:cubicBezTo>
                  <a:close/>
                </a:path>
              </a:pathLst>
            </a:custGeom>
            <a:ln w="9525" cap="rnd">
              <a:solidFill>
                <a:srgbClr val="5CE1E6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41215" cy="41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54605" y="4879742"/>
            <a:ext cx="894392" cy="833776"/>
          </a:xfrm>
          <a:custGeom>
            <a:avLst/>
            <a:gdLst/>
            <a:ahLst/>
            <a:cxnLst/>
            <a:rect r="r" b="b" t="t" l="l"/>
            <a:pathLst>
              <a:path h="833776" w="894392">
                <a:moveTo>
                  <a:pt x="0" y="0"/>
                </a:moveTo>
                <a:lnTo>
                  <a:pt x="894392" y="0"/>
                </a:lnTo>
                <a:lnTo>
                  <a:pt x="894392" y="833776"/>
                </a:lnTo>
                <a:lnTo>
                  <a:pt x="0" y="833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19275" y="1006203"/>
            <a:ext cx="4140220" cy="291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23"/>
              </a:lnSpc>
              <a:spcBef>
                <a:spcPct val="0"/>
              </a:spcBef>
            </a:pPr>
            <a:r>
              <a:rPr lang="en-US" b="true" sz="1659" i="true" spc="82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Cricket Player Performance Prediction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9275" y="1691206"/>
            <a:ext cx="8207271" cy="101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Results So Far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44675" y="4873496"/>
            <a:ext cx="1822226" cy="28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1"/>
              </a:lnSpc>
              <a:spcBef>
                <a:spcPct val="0"/>
              </a:spcBef>
            </a:pPr>
            <a:r>
              <a:rPr lang="en-US" b="true" sz="1572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MAE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22161" y="3246964"/>
            <a:ext cx="4060329" cy="28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1"/>
              </a:lnSpc>
              <a:spcBef>
                <a:spcPct val="0"/>
              </a:spcBef>
            </a:pPr>
            <a:r>
              <a:rPr lang="en-US" b="true" sz="1572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Predicted vs Actual Runs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42822" y="3246964"/>
            <a:ext cx="4060329" cy="28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1"/>
              </a:lnSpc>
              <a:spcBef>
                <a:spcPct val="0"/>
              </a:spcBef>
            </a:pPr>
            <a:r>
              <a:rPr lang="en-US" b="true" sz="1572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Feature Importance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22161" y="6505906"/>
            <a:ext cx="4060329" cy="28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1"/>
              </a:lnSpc>
              <a:spcBef>
                <a:spcPct val="0"/>
              </a:spcBef>
            </a:pPr>
            <a:r>
              <a:rPr lang="en-US" b="true" sz="1572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Error Distribution by Player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44675" y="6492901"/>
            <a:ext cx="1945802" cy="28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1"/>
              </a:lnSpc>
              <a:spcBef>
                <a:spcPct val="0"/>
              </a:spcBef>
            </a:pPr>
            <a:r>
              <a:rPr lang="en-US" b="true" sz="1572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RMSE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44675" y="5151625"/>
            <a:ext cx="1822226" cy="63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6"/>
              </a:lnSpc>
              <a:spcBef>
                <a:spcPct val="0"/>
              </a:spcBef>
            </a:pPr>
            <a:r>
              <a:rPr lang="en-US" b="true" sz="1840" strike="noStrike" u="none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~15.5</a:t>
            </a:r>
          </a:p>
          <a:p>
            <a:pPr algn="l" marL="0" indent="0" lvl="0">
              <a:lnSpc>
                <a:spcPts val="2576"/>
              </a:lnSpc>
              <a:spcBef>
                <a:spcPct val="0"/>
              </a:spcBef>
            </a:pPr>
            <a:r>
              <a:rPr lang="en-US" b="true" sz="1840" strike="noStrike" u="none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runs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44675" y="6771030"/>
            <a:ext cx="1822226" cy="63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6"/>
              </a:lnSpc>
              <a:spcBef>
                <a:spcPct val="0"/>
              </a:spcBef>
            </a:pPr>
            <a:r>
              <a:rPr lang="en-US" b="true" sz="1840" strike="noStrike" u="none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~20.7</a:t>
            </a:r>
          </a:p>
          <a:p>
            <a:pPr algn="l" marL="0" indent="0" lvl="0">
              <a:lnSpc>
                <a:spcPts val="2576"/>
              </a:lnSpc>
              <a:spcBef>
                <a:spcPct val="0"/>
              </a:spcBef>
            </a:pPr>
            <a:r>
              <a:rPr lang="en-US" b="true" sz="1840" strike="noStrike" u="none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runs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38943" y="7848269"/>
            <a:ext cx="3573675" cy="1410031"/>
            <a:chOff x="0" y="0"/>
            <a:chExt cx="941215" cy="3713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1215" cy="371366"/>
            </a:xfrm>
            <a:custGeom>
              <a:avLst/>
              <a:gdLst/>
              <a:ahLst/>
              <a:cxnLst/>
              <a:rect r="r" b="b" t="t" l="l"/>
              <a:pathLst>
                <a:path h="371366" w="941215">
                  <a:moveTo>
                    <a:pt x="110485" y="0"/>
                  </a:moveTo>
                  <a:lnTo>
                    <a:pt x="830730" y="0"/>
                  </a:lnTo>
                  <a:cubicBezTo>
                    <a:pt x="891749" y="0"/>
                    <a:pt x="941215" y="49466"/>
                    <a:pt x="941215" y="110485"/>
                  </a:cubicBezTo>
                  <a:lnTo>
                    <a:pt x="941215" y="260881"/>
                  </a:lnTo>
                  <a:cubicBezTo>
                    <a:pt x="941215" y="321900"/>
                    <a:pt x="891749" y="371366"/>
                    <a:pt x="830730" y="371366"/>
                  </a:cubicBezTo>
                  <a:lnTo>
                    <a:pt x="110485" y="371366"/>
                  </a:lnTo>
                  <a:cubicBezTo>
                    <a:pt x="49466" y="371366"/>
                    <a:pt x="0" y="321900"/>
                    <a:pt x="0" y="260881"/>
                  </a:cubicBezTo>
                  <a:lnTo>
                    <a:pt x="0" y="110485"/>
                  </a:lnTo>
                  <a:cubicBezTo>
                    <a:pt x="0" y="49466"/>
                    <a:pt x="49466" y="0"/>
                    <a:pt x="110485" y="0"/>
                  </a:cubicBezTo>
                  <a:close/>
                </a:path>
              </a:pathLst>
            </a:custGeom>
            <a:ln w="9525" cap="rnd">
              <a:solidFill>
                <a:srgbClr val="5CE1E6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41215" cy="41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744675" y="8131532"/>
            <a:ext cx="1945802" cy="28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1"/>
              </a:lnSpc>
              <a:spcBef>
                <a:spcPct val="0"/>
              </a:spcBef>
            </a:pPr>
            <a:r>
              <a:rPr lang="en-US" b="true" sz="1572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Top Predictor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44675" y="8409661"/>
            <a:ext cx="2014087" cy="63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6"/>
              </a:lnSpc>
              <a:spcBef>
                <a:spcPct val="0"/>
              </a:spcBef>
            </a:pPr>
            <a:r>
              <a:rPr lang="en-US" b="true" sz="1840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Career</a:t>
            </a:r>
          </a:p>
          <a:p>
            <a:pPr algn="l" marL="0" indent="0" lvl="0">
              <a:lnSpc>
                <a:spcPts val="2576"/>
              </a:lnSpc>
              <a:spcBef>
                <a:spcPct val="0"/>
              </a:spcBef>
            </a:pPr>
            <a:r>
              <a:rPr lang="en-US" b="true" sz="1840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Avg Runs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698616" y="8261798"/>
            <a:ext cx="908808" cy="867423"/>
          </a:xfrm>
          <a:custGeom>
            <a:avLst/>
            <a:gdLst/>
            <a:ahLst/>
            <a:cxnLst/>
            <a:rect r="r" b="b" t="t" l="l"/>
            <a:pathLst>
              <a:path h="867423" w="908808">
                <a:moveTo>
                  <a:pt x="0" y="0"/>
                </a:moveTo>
                <a:lnTo>
                  <a:pt x="908808" y="0"/>
                </a:lnTo>
                <a:lnTo>
                  <a:pt x="908808" y="867423"/>
                </a:lnTo>
                <a:lnTo>
                  <a:pt x="0" y="8674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33516" y="6519432"/>
            <a:ext cx="848338" cy="705817"/>
          </a:xfrm>
          <a:custGeom>
            <a:avLst/>
            <a:gdLst/>
            <a:ahLst/>
            <a:cxnLst/>
            <a:rect r="r" b="b" t="t" l="l"/>
            <a:pathLst>
              <a:path h="705817" w="848338">
                <a:moveTo>
                  <a:pt x="0" y="0"/>
                </a:moveTo>
                <a:lnTo>
                  <a:pt x="848338" y="0"/>
                </a:lnTo>
                <a:lnTo>
                  <a:pt x="848338" y="705817"/>
                </a:lnTo>
                <a:lnTo>
                  <a:pt x="0" y="7058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28738" y="3211217"/>
            <a:ext cx="8321070" cy="3828448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713799" y="6310558"/>
            <a:ext cx="7665847" cy="3737196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499402" y="3163112"/>
            <a:ext cx="3413215" cy="102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485" spc="7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Baseline Gradient Boosting model evaluated on held-out match data from IPL 2008–2023 ball-by-ball dataset.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742822" y="7554500"/>
            <a:ext cx="7586427" cy="1854435"/>
            <a:chOff x="0" y="0"/>
            <a:chExt cx="1998071" cy="4884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98071" cy="488411"/>
            </a:xfrm>
            <a:custGeom>
              <a:avLst/>
              <a:gdLst/>
              <a:ahLst/>
              <a:cxnLst/>
              <a:rect r="r" b="b" t="t" l="l"/>
              <a:pathLst>
                <a:path h="488411" w="1998071">
                  <a:moveTo>
                    <a:pt x="52045" y="0"/>
                  </a:moveTo>
                  <a:lnTo>
                    <a:pt x="1946026" y="0"/>
                  </a:lnTo>
                  <a:cubicBezTo>
                    <a:pt x="1974770" y="0"/>
                    <a:pt x="1998071" y="23301"/>
                    <a:pt x="1998071" y="52045"/>
                  </a:cubicBezTo>
                  <a:lnTo>
                    <a:pt x="1998071" y="436365"/>
                  </a:lnTo>
                  <a:cubicBezTo>
                    <a:pt x="1998071" y="450169"/>
                    <a:pt x="1992588" y="463407"/>
                    <a:pt x="1982828" y="473167"/>
                  </a:cubicBezTo>
                  <a:cubicBezTo>
                    <a:pt x="1973067" y="482927"/>
                    <a:pt x="1959829" y="488411"/>
                    <a:pt x="1946026" y="488411"/>
                  </a:cubicBezTo>
                  <a:lnTo>
                    <a:pt x="52045" y="488411"/>
                  </a:lnTo>
                  <a:cubicBezTo>
                    <a:pt x="38242" y="488411"/>
                    <a:pt x="25004" y="482927"/>
                    <a:pt x="15244" y="473167"/>
                  </a:cubicBezTo>
                  <a:cubicBezTo>
                    <a:pt x="5483" y="463407"/>
                    <a:pt x="0" y="450169"/>
                    <a:pt x="0" y="436365"/>
                  </a:cubicBezTo>
                  <a:lnTo>
                    <a:pt x="0" y="52045"/>
                  </a:lnTo>
                  <a:cubicBezTo>
                    <a:pt x="0" y="38242"/>
                    <a:pt x="5483" y="25004"/>
                    <a:pt x="15244" y="15244"/>
                  </a:cubicBezTo>
                  <a:cubicBezTo>
                    <a:pt x="25004" y="5483"/>
                    <a:pt x="38242" y="0"/>
                    <a:pt x="52045" y="0"/>
                  </a:cubicBezTo>
                  <a:close/>
                </a:path>
              </a:pathLst>
            </a:custGeom>
            <a:solidFill>
              <a:srgbClr val="5CE1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998071" cy="536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389936" y="7810169"/>
            <a:ext cx="4287034" cy="102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485" spc="74">
                <a:solidFill>
                  <a:srgbClr val="011149"/>
                </a:solidFill>
                <a:latin typeface="Raleway"/>
                <a:ea typeface="Raleway"/>
                <a:cs typeface="Raleway"/>
                <a:sym typeface="Raleway"/>
              </a:rPr>
              <a:t>Career average runs is the strongest predictor in the baseline model. Adding recent form and venue features is expected to reduce error further.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48058" y="3318655"/>
            <a:ext cx="5357718" cy="4540202"/>
          </a:xfrm>
          <a:prstGeom prst="rect">
            <a:avLst/>
          </a:prstGeom>
        </p:spPr>
      </p:pic>
      <p:sp>
        <p:nvSpPr>
          <p:cNvPr name="Freeform 34" id="34"/>
          <p:cNvSpPr/>
          <p:nvPr/>
        </p:nvSpPr>
        <p:spPr>
          <a:xfrm flipH="false" flipV="false" rot="-10800000">
            <a:off x="15026918" y="432843"/>
            <a:ext cx="3296668" cy="2287063"/>
          </a:xfrm>
          <a:custGeom>
            <a:avLst/>
            <a:gdLst/>
            <a:ahLst/>
            <a:cxnLst/>
            <a:rect r="r" b="b" t="t" l="l"/>
            <a:pathLst>
              <a:path h="2287063" w="3296668">
                <a:moveTo>
                  <a:pt x="0" y="0"/>
                </a:moveTo>
                <a:lnTo>
                  <a:pt x="3296667" y="0"/>
                </a:lnTo>
                <a:lnTo>
                  <a:pt x="3296667" y="2287063"/>
                </a:lnTo>
                <a:lnTo>
                  <a:pt x="0" y="22870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3495490" y="1265323"/>
            <a:ext cx="1090838" cy="73620"/>
            <a:chOff x="0" y="0"/>
            <a:chExt cx="1454450" cy="981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78145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60" y="0"/>
                  </a:lnTo>
                  <a:lnTo>
                    <a:pt x="98160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017218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60" y="0"/>
                  </a:lnTo>
                  <a:lnTo>
                    <a:pt x="98160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356291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339073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10243" cy="310243"/>
          </a:xfrm>
          <a:custGeom>
            <a:avLst/>
            <a:gdLst/>
            <a:ahLst/>
            <a:cxnLst/>
            <a:rect r="r" b="b" t="t" l="l"/>
            <a:pathLst>
              <a:path h="310243" w="310243">
                <a:moveTo>
                  <a:pt x="0" y="0"/>
                </a:moveTo>
                <a:lnTo>
                  <a:pt x="310243" y="0"/>
                </a:lnTo>
                <a:lnTo>
                  <a:pt x="310243" y="310243"/>
                </a:lnTo>
                <a:lnTo>
                  <a:pt x="0" y="310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6713881" y="4232071"/>
            <a:ext cx="1090838" cy="73620"/>
            <a:chOff x="0" y="0"/>
            <a:chExt cx="1454450" cy="981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78145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60" y="0"/>
                  </a:lnTo>
                  <a:lnTo>
                    <a:pt x="98160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017218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60" y="0"/>
                  </a:lnTo>
                  <a:lnTo>
                    <a:pt x="98160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356291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9073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5400000">
            <a:off x="15946039" y="195411"/>
            <a:ext cx="3296668" cy="2287063"/>
          </a:xfrm>
          <a:custGeom>
            <a:avLst/>
            <a:gdLst/>
            <a:ahLst/>
            <a:cxnLst/>
            <a:rect r="r" b="b" t="t" l="l"/>
            <a:pathLst>
              <a:path h="2287063" w="3296668">
                <a:moveTo>
                  <a:pt x="0" y="0"/>
                </a:moveTo>
                <a:lnTo>
                  <a:pt x="3296668" y="0"/>
                </a:lnTo>
                <a:lnTo>
                  <a:pt x="3296668" y="2287063"/>
                </a:lnTo>
                <a:lnTo>
                  <a:pt x="0" y="22870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3110705">
            <a:off x="264982" y="6230413"/>
            <a:ext cx="1527436" cy="4272548"/>
          </a:xfrm>
          <a:custGeom>
            <a:avLst/>
            <a:gdLst/>
            <a:ahLst/>
            <a:cxnLst/>
            <a:rect r="r" b="b" t="t" l="l"/>
            <a:pathLst>
              <a:path h="4272548" w="1527436">
                <a:moveTo>
                  <a:pt x="0" y="4272548"/>
                </a:moveTo>
                <a:lnTo>
                  <a:pt x="1527436" y="4272548"/>
                </a:lnTo>
                <a:lnTo>
                  <a:pt x="1527436" y="0"/>
                </a:lnTo>
                <a:lnTo>
                  <a:pt x="0" y="0"/>
                </a:lnTo>
                <a:lnTo>
                  <a:pt x="0" y="4272548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222490" y="6249918"/>
            <a:ext cx="2314607" cy="3008382"/>
            <a:chOff x="0" y="0"/>
            <a:chExt cx="784614" cy="10197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4614" cy="1019793"/>
            </a:xfrm>
            <a:custGeom>
              <a:avLst/>
              <a:gdLst/>
              <a:ahLst/>
              <a:cxnLst/>
              <a:rect r="r" b="b" t="t" l="l"/>
              <a:pathLst>
                <a:path h="1019793" w="784614">
                  <a:moveTo>
                    <a:pt x="0" y="0"/>
                  </a:moveTo>
                  <a:lnTo>
                    <a:pt x="784614" y="0"/>
                  </a:lnTo>
                  <a:lnTo>
                    <a:pt x="784614" y="1019793"/>
                  </a:lnTo>
                  <a:lnTo>
                    <a:pt x="0" y="1019793"/>
                  </a:ln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84500"/>
                  </a:srgbClr>
                </a:gs>
                <a:gs pos="100000">
                  <a:srgbClr val="011149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84614" cy="1067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573656" y="1940921"/>
            <a:ext cx="13140687" cy="2928866"/>
            <a:chOff x="0" y="0"/>
            <a:chExt cx="3530607" cy="786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30607" cy="786920"/>
            </a:xfrm>
            <a:custGeom>
              <a:avLst/>
              <a:gdLst/>
              <a:ahLst/>
              <a:cxnLst/>
              <a:rect r="r" b="b" t="t" l="l"/>
              <a:pathLst>
                <a:path h="786920" w="3530607">
                  <a:moveTo>
                    <a:pt x="30047" y="0"/>
                  </a:moveTo>
                  <a:lnTo>
                    <a:pt x="3500560" y="0"/>
                  </a:lnTo>
                  <a:cubicBezTo>
                    <a:pt x="3517154" y="0"/>
                    <a:pt x="3530607" y="13452"/>
                    <a:pt x="3530607" y="30047"/>
                  </a:cubicBezTo>
                  <a:lnTo>
                    <a:pt x="3530607" y="756873"/>
                  </a:lnTo>
                  <a:cubicBezTo>
                    <a:pt x="3530607" y="773468"/>
                    <a:pt x="3517154" y="786920"/>
                    <a:pt x="3500560" y="786920"/>
                  </a:cubicBezTo>
                  <a:lnTo>
                    <a:pt x="30047" y="786920"/>
                  </a:lnTo>
                  <a:cubicBezTo>
                    <a:pt x="13452" y="786920"/>
                    <a:pt x="0" y="773468"/>
                    <a:pt x="0" y="756873"/>
                  </a:cubicBezTo>
                  <a:lnTo>
                    <a:pt x="0" y="30047"/>
                  </a:lnTo>
                  <a:cubicBezTo>
                    <a:pt x="0" y="13452"/>
                    <a:pt x="13452" y="0"/>
                    <a:pt x="30047" y="0"/>
                  </a:cubicBezTo>
                  <a:close/>
                </a:path>
              </a:pathLst>
            </a:custGeom>
            <a:ln w="9525" cap="rnd">
              <a:solidFill>
                <a:srgbClr val="5CE1E6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530607" cy="834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73656" y="5469862"/>
            <a:ext cx="13140687" cy="2928866"/>
            <a:chOff x="0" y="0"/>
            <a:chExt cx="3530607" cy="786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30607" cy="786920"/>
            </a:xfrm>
            <a:custGeom>
              <a:avLst/>
              <a:gdLst/>
              <a:ahLst/>
              <a:cxnLst/>
              <a:rect r="r" b="b" t="t" l="l"/>
              <a:pathLst>
                <a:path h="786920" w="3530607">
                  <a:moveTo>
                    <a:pt x="30047" y="0"/>
                  </a:moveTo>
                  <a:lnTo>
                    <a:pt x="3500560" y="0"/>
                  </a:lnTo>
                  <a:cubicBezTo>
                    <a:pt x="3517154" y="0"/>
                    <a:pt x="3530607" y="13452"/>
                    <a:pt x="3530607" y="30047"/>
                  </a:cubicBezTo>
                  <a:lnTo>
                    <a:pt x="3530607" y="756873"/>
                  </a:lnTo>
                  <a:cubicBezTo>
                    <a:pt x="3530607" y="773468"/>
                    <a:pt x="3517154" y="786920"/>
                    <a:pt x="3500560" y="786920"/>
                  </a:cubicBezTo>
                  <a:lnTo>
                    <a:pt x="30047" y="786920"/>
                  </a:lnTo>
                  <a:cubicBezTo>
                    <a:pt x="13452" y="786920"/>
                    <a:pt x="0" y="773468"/>
                    <a:pt x="0" y="756873"/>
                  </a:cubicBezTo>
                  <a:lnTo>
                    <a:pt x="0" y="30047"/>
                  </a:lnTo>
                  <a:cubicBezTo>
                    <a:pt x="0" y="13452"/>
                    <a:pt x="13452" y="0"/>
                    <a:pt x="30047" y="0"/>
                  </a:cubicBezTo>
                  <a:close/>
                </a:path>
              </a:pathLst>
            </a:custGeom>
            <a:ln w="9525" cap="rnd">
              <a:solidFill>
                <a:srgbClr val="5CE1E6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530607" cy="834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19275" y="1006203"/>
            <a:ext cx="4140220" cy="291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23"/>
              </a:lnSpc>
              <a:spcBef>
                <a:spcPct val="0"/>
              </a:spcBef>
            </a:pPr>
            <a:r>
              <a:rPr lang="en-US" b="true" sz="1659" i="true" spc="82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Cricket Player Performance Prediction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71360" y="3064041"/>
            <a:ext cx="4978858" cy="60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3497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What's Next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71360" y="6592982"/>
            <a:ext cx="4978858" cy="60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3497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Action Plan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17597" y="2446186"/>
            <a:ext cx="6461595" cy="1861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</a:pPr>
            <a:r>
              <a:rPr lang="en-US" sz="2098" spc="10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Add recent form features (last 5 matches)</a:t>
            </a:r>
          </a:p>
          <a:p>
            <a:pPr algn="l" marL="0" indent="0" lvl="0">
              <a:lnSpc>
                <a:spcPts val="2937"/>
              </a:lnSpc>
            </a:pPr>
            <a:r>
              <a:rPr lang="en-US" sz="2098" spc="10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Add opponent-based features</a:t>
            </a:r>
          </a:p>
          <a:p>
            <a:pPr algn="l" marL="0" indent="0" lvl="0">
              <a:lnSpc>
                <a:spcPts val="2937"/>
              </a:lnSpc>
            </a:pPr>
            <a:r>
              <a:rPr lang="en-US" sz="2098" spc="10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Add venue-based features</a:t>
            </a:r>
          </a:p>
          <a:p>
            <a:pPr algn="l" marL="0" indent="0" lvl="0">
              <a:lnSpc>
                <a:spcPts val="2937"/>
              </a:lnSpc>
            </a:pPr>
            <a:r>
              <a:rPr lang="en-US" sz="2098" spc="10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Improve model accuracy beyond baseline</a:t>
            </a:r>
          </a:p>
          <a:p>
            <a:pPr algn="l" marL="0" indent="0" lvl="0">
              <a:lnSpc>
                <a:spcPts val="2937"/>
              </a:lnSpc>
            </a:pPr>
            <a:r>
              <a:rPr lang="en-US" sz="2098" spc="10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Build a simple UI to try predictions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17597" y="5903880"/>
            <a:ext cx="6461595" cy="191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sz="2098" spc="10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Engineer and validate new features</a:t>
            </a:r>
          </a:p>
          <a:p>
            <a:pPr algn="l" marL="0" indent="0" lvl="0">
              <a:lnSpc>
                <a:spcPts val="3840"/>
              </a:lnSpc>
            </a:pPr>
            <a:r>
              <a:rPr lang="en-US" sz="2098" spc="10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Retrain model with expanded feature set</a:t>
            </a:r>
          </a:p>
          <a:p>
            <a:pPr algn="l" marL="0" indent="0" lvl="0">
              <a:lnSpc>
                <a:spcPts val="3840"/>
              </a:lnSpc>
            </a:pPr>
            <a:r>
              <a:rPr lang="en-US" sz="2098" spc="10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Evaluate accuracy improvements</a:t>
            </a:r>
          </a:p>
          <a:p>
            <a:pPr algn="l" marL="0" indent="0" lvl="0">
              <a:lnSpc>
                <a:spcPts val="3840"/>
              </a:lnSpc>
            </a:pPr>
            <a:r>
              <a:rPr lang="en-US" sz="2098" spc="10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Prototype a simple prediction interface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01119" y="5758314"/>
            <a:ext cx="3786881" cy="4133021"/>
          </a:xfrm>
          <a:custGeom>
            <a:avLst/>
            <a:gdLst/>
            <a:ahLst/>
            <a:cxnLst/>
            <a:rect r="r" b="b" t="t" l="l"/>
            <a:pathLst>
              <a:path h="4133021" w="3786881">
                <a:moveTo>
                  <a:pt x="0" y="0"/>
                </a:moveTo>
                <a:lnTo>
                  <a:pt x="3786881" y="0"/>
                </a:lnTo>
                <a:lnTo>
                  <a:pt x="3786881" y="4133021"/>
                </a:lnTo>
                <a:lnTo>
                  <a:pt x="0" y="4133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2303" y="1983139"/>
            <a:ext cx="3361975" cy="3669277"/>
          </a:xfrm>
          <a:custGeom>
            <a:avLst/>
            <a:gdLst/>
            <a:ahLst/>
            <a:cxnLst/>
            <a:rect r="r" b="b" t="t" l="l"/>
            <a:pathLst>
              <a:path h="3669277" w="3361975">
                <a:moveTo>
                  <a:pt x="0" y="0"/>
                </a:moveTo>
                <a:lnTo>
                  <a:pt x="3361975" y="0"/>
                </a:lnTo>
                <a:lnTo>
                  <a:pt x="3361975" y="3669277"/>
                </a:lnTo>
                <a:lnTo>
                  <a:pt x="0" y="3669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598581" y="1696472"/>
            <a:ext cx="1090838" cy="73620"/>
            <a:chOff x="0" y="0"/>
            <a:chExt cx="1454450" cy="98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78145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60" y="0"/>
                  </a:lnTo>
                  <a:lnTo>
                    <a:pt x="98160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017218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60" y="0"/>
                  </a:lnTo>
                  <a:lnTo>
                    <a:pt x="98160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56291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39073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219252" y="6511010"/>
            <a:ext cx="4615329" cy="3201884"/>
          </a:xfrm>
          <a:custGeom>
            <a:avLst/>
            <a:gdLst/>
            <a:ahLst/>
            <a:cxnLst/>
            <a:rect r="r" b="b" t="t" l="l"/>
            <a:pathLst>
              <a:path h="3201884" w="4615329">
                <a:moveTo>
                  <a:pt x="0" y="0"/>
                </a:moveTo>
                <a:lnTo>
                  <a:pt x="4615328" y="0"/>
                </a:lnTo>
                <a:lnTo>
                  <a:pt x="4615328" y="3201884"/>
                </a:lnTo>
                <a:lnTo>
                  <a:pt x="0" y="32018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78169" y="1178783"/>
            <a:ext cx="310243" cy="310243"/>
          </a:xfrm>
          <a:custGeom>
            <a:avLst/>
            <a:gdLst/>
            <a:ahLst/>
            <a:cxnLst/>
            <a:rect r="r" b="b" t="t" l="l"/>
            <a:pathLst>
              <a:path h="310243" w="310243">
                <a:moveTo>
                  <a:pt x="0" y="0"/>
                </a:moveTo>
                <a:lnTo>
                  <a:pt x="310243" y="0"/>
                </a:lnTo>
                <a:lnTo>
                  <a:pt x="310243" y="310243"/>
                </a:lnTo>
                <a:lnTo>
                  <a:pt x="0" y="3102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2246607">
            <a:off x="14782438" y="-593560"/>
            <a:ext cx="1690011" cy="4727304"/>
          </a:xfrm>
          <a:custGeom>
            <a:avLst/>
            <a:gdLst/>
            <a:ahLst/>
            <a:cxnLst/>
            <a:rect r="r" b="b" t="t" l="l"/>
            <a:pathLst>
              <a:path h="4727304" w="1690011">
                <a:moveTo>
                  <a:pt x="0" y="4727303"/>
                </a:moveTo>
                <a:lnTo>
                  <a:pt x="1690011" y="4727303"/>
                </a:lnTo>
                <a:lnTo>
                  <a:pt x="1690011" y="0"/>
                </a:lnTo>
                <a:lnTo>
                  <a:pt x="0" y="0"/>
                </a:lnTo>
                <a:lnTo>
                  <a:pt x="0" y="4727303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13205" y="3184476"/>
            <a:ext cx="9261590" cy="153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41"/>
              </a:lnSpc>
            </a:pPr>
            <a:r>
              <a:rPr lang="en-US" b="true" sz="1003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Questions?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68744" y="1156286"/>
            <a:ext cx="414022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0"/>
              </a:lnSpc>
              <a:spcBef>
                <a:spcPct val="0"/>
              </a:spcBef>
            </a:pPr>
            <a:r>
              <a:rPr lang="en-US" b="true" sz="1900" i="true" spc="95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Northline Group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84805" y="6572157"/>
            <a:ext cx="6518390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Cricket Player Performance Prediction — Progress Update. Open the floor for discussion and feedback.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84805" y="8717730"/>
            <a:ext cx="6518390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52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13205" y="2017742"/>
            <a:ext cx="9261590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DAHSetnkkQs</dc:identifier>
  <dcterms:modified xsi:type="dcterms:W3CDTF">2011-08-01T06:04:30Z</dcterms:modified>
  <cp:revision>1</cp:revision>
  <dc:title>Player performance prediction</dc:title>
</cp:coreProperties>
</file>